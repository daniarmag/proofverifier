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League Spartan" charset="1" panose="00000800000000000000"/>
      <p:regular r:id="rId26"/>
    </p:embeddedFont>
    <p:embeddedFont>
      <p:font typeface="Garet" charset="1" panose="00000000000000000000"/>
      <p:regular r:id="rId27"/>
    </p:embeddedFont>
    <p:embeddedFont>
      <p:font typeface="Garet Bold" charset="1" panose="00000000000000000000"/>
      <p:regular r:id="rId28"/>
    </p:embeddedFont>
    <p:embeddedFont>
      <p:font typeface="Ansam" charset="1" panose="0000050000000000000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Proofs as Programs (ITT)</a:t>
            </a:r>
          </a:p>
          <a:p>
            <a:r>
              <a:rPr lang="en-US"/>
              <a:t/>
            </a:r>
          </a:p>
          <a:p>
            <a:r>
              <a:rPr lang="en-US"/>
              <a:t>    In your project, ChatGPT generates proofs, and Agda checks them. ITT’s idea that proofs are like programs fits perfectly here. Each proof can be written and verified step-by-step, just like a program that’s tested to ensure it works.</a:t>
            </a:r>
          </a:p>
          <a:p>
            <a:r>
              <a:rPr lang="en-US"/>
              <a:t>    This helps make ChatGPT’s output verifiable by breaking down a proof into constructive steps that Agda can check.</a:t>
            </a:r>
          </a:p>
          <a:p>
            <a:r>
              <a:rPr lang="en-US"/>
              <a:t/>
            </a:r>
          </a:p>
          <a:p>
            <a:r>
              <a:rPr lang="en-US"/>
              <a:t>2. Constructive Approach (ITT)</a:t>
            </a:r>
          </a:p>
          <a:p>
            <a:r>
              <a:rPr lang="en-US"/>
              <a:t/>
            </a:r>
          </a:p>
          <a:p>
            <a:r>
              <a:rPr lang="en-US"/>
              <a:t>    ITT's focus on constructing proofs ensures that the proofs generated are not just logically possible but are actually built step by step. This matches your goal of iterative refinement in the project, where the proof is improved and checked multiple times until it's verified.</a:t>
            </a:r>
          </a:p>
          <a:p>
            <a:r>
              <a:rPr lang="en-US"/>
              <a:t>    It also helps your system to spot errors early, since every step needs to be justified.</a:t>
            </a:r>
          </a:p>
          <a:p>
            <a:r>
              <a:rPr lang="en-US"/>
              <a:t/>
            </a:r>
          </a:p>
          <a:p>
            <a:r>
              <a:rPr lang="en-US"/>
              <a:t>3. Flexible Equality (HoTT)</a:t>
            </a:r>
          </a:p>
          <a:p>
            <a:r>
              <a:rPr lang="en-US"/>
              <a:t/>
            </a:r>
          </a:p>
          <a:p>
            <a:r>
              <a:rPr lang="en-US"/>
              <a:t>    HoTT’s flexible approach to equality means that even if two things look different but are logically the same, your system can treat them as equivalent. This makes it easier for the system to handle complex mathematical proofs, where different formulations can represent the same idea.</a:t>
            </a:r>
          </a:p>
          <a:p>
            <a:r>
              <a:rPr lang="en-US"/>
              <a:t>    This improves the robustness of your verification system, allowing it to handle more diverse proofs without getting stuck on minor differences.</a:t>
            </a:r>
          </a:p>
          <a:p>
            <a:r>
              <a:rPr lang="en-US"/>
              <a:t/>
            </a:r>
          </a:p>
          <a:p>
            <a:r>
              <a:rPr lang="en-US"/>
              <a:t>4. Univalence Axiom (HoTT)</a:t>
            </a:r>
          </a:p>
          <a:p>
            <a:r>
              <a:rPr lang="en-US"/>
              <a:t/>
            </a:r>
          </a:p>
          <a:p>
            <a:r>
              <a:rPr lang="en-US"/>
              <a:t>    The Univalence Axiom helps ensure that equivalent proofs or structures can be treated as identical. In your project, this means ChatGPT’s generated proofs can be more flexible, and Agda can still validate them even if they use different but logically equivalent approaches.</a:t>
            </a:r>
          </a:p>
          <a:p>
            <a:r>
              <a:rPr lang="en-US"/>
              <a:t>    This enhances your project’s ability to adapt to different styles of proof generation and still reach a verified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dependent types help ensure that mathematical proofs are not only syntactically correct but also logically correct by encoding these kinds of constraints directly into the types. This allows the system to catch errors early and verify complex properties about the proofs it generates.</a:t>
            </a:r>
          </a:p>
          <a:p>
            <a:r>
              <a:rPr lang="en-US"/>
              <a:t/>
            </a:r>
          </a:p>
          <a:p>
            <a:r>
              <a:rPr lang="en-US"/>
              <a:t>52</a:t>
            </a:r>
          </a:p>
          <a:p>
            <a:r>
              <a:rPr lang="en-US"/>
              <a:t/>
            </a:r>
          </a:p>
          <a:p>
            <a:r>
              <a:rPr lang="en-US"/>
              <a:t>Dependent types enable larger set of logic errors to be eliminated at compile time. To illustrate this consider the following specification on function f:</a:t>
            </a:r>
          </a:p>
          <a:p>
            <a:r>
              <a:rPr lang="en-US"/>
              <a:t/>
            </a:r>
          </a:p>
          <a:p>
            <a:r>
              <a:rPr lang="en-US"/>
              <a:t>Function f must take only even integers as input.</a:t>
            </a:r>
          </a:p>
          <a:p>
            <a:r>
              <a:rPr lang="en-US"/>
              <a:t/>
            </a:r>
          </a:p>
          <a:p>
            <a:r>
              <a:rPr lang="en-US"/>
              <a:t>Without dependent types you might do something like this:</a:t>
            </a:r>
          </a:p>
          <a:p>
            <a:r>
              <a:rPr lang="en-US"/>
              <a:t/>
            </a:r>
          </a:p>
          <a:p>
            <a:r>
              <a:rPr lang="en-US"/>
              <a:t>def f(n: Integer) := {</a:t>
            </a:r>
          </a:p>
          <a:p>
            <a:r>
              <a:rPr lang="en-US"/>
              <a:t>  if  n mod 2 != 0 then </a:t>
            </a:r>
          </a:p>
          <a:p>
            <a:r>
              <a:rPr lang="en-US"/>
              <a:t>    throw RuntimeException</a:t>
            </a:r>
          </a:p>
          <a:p>
            <a:r>
              <a:rPr lang="en-US"/>
              <a:t>  else</a:t>
            </a:r>
          </a:p>
          <a:p>
            <a:r>
              <a:rPr lang="en-US"/>
              <a:t>    // do something with n</a:t>
            </a:r>
          </a:p>
          <a:p>
            <a:r>
              <a:rPr lang="en-US"/>
              <a:t>}</a:t>
            </a:r>
          </a:p>
          <a:p>
            <a:r>
              <a:rPr lang="en-US"/>
              <a:t>Here the compiler cannot detect if n is indeed even, that is, from the compiler's perspective the following expression is ok:</a:t>
            </a:r>
          </a:p>
          <a:p>
            <a:r>
              <a:rPr lang="en-US"/>
              <a:t/>
            </a:r>
          </a:p>
          <a:p>
            <a:r>
              <a:rPr lang="en-US"/>
              <a:t>f(1)    // compiles OK despite being a logic error!</a:t>
            </a:r>
          </a:p>
          <a:p>
            <a:r>
              <a:rPr lang="en-US"/>
              <a:t>This program would run and then throw exception at runtime, that is, your program has a logic error.</a:t>
            </a:r>
          </a:p>
          <a:p>
            <a:r>
              <a:rPr lang="en-US"/>
              <a:t/>
            </a:r>
          </a:p>
          <a:p>
            <a:r>
              <a:rPr lang="en-US"/>
              <a:t>Now, dependent types enable you to be much more expressive and would enable you to write something like this:</a:t>
            </a:r>
          </a:p>
          <a:p>
            <a:r>
              <a:rPr lang="en-US"/>
              <a:t/>
            </a:r>
          </a:p>
          <a:p>
            <a:r>
              <a:rPr lang="en-US"/>
              <a:t>def f(n: {n: Integer | n mod 2 == 0}) := {</a:t>
            </a:r>
          </a:p>
          <a:p>
            <a:r>
              <a:rPr lang="en-US"/>
              <a:t>  // do something with n</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Non-Convergence: Some proofs may not converge within the allowed</a:t>
            </a:r>
          </a:p>
          <a:p>
            <a:r>
              <a:rPr lang="en-US"/>
              <a:t>iteration limit, requiring manual intervention or additional refinement</a:t>
            </a:r>
          </a:p>
          <a:p>
            <a:r>
              <a:rPr lang="en-US"/>
              <a:t>strategies.</a:t>
            </a:r>
          </a:p>
          <a:p>
            <a:r>
              <a:rPr lang="en-US"/>
              <a:t>• Efficiency: Optimizing the API to handle large and complex proofs efficiently</a:t>
            </a:r>
          </a:p>
          <a:p>
            <a:r>
              <a:rPr lang="en-US"/>
              <a:t>will be a key technical challenge.</a:t>
            </a:r>
          </a:p>
          <a:p>
            <a:r>
              <a:rPr lang="en-US"/>
              <a:t>• Integration: Ensuring smooth communication between ChatGPT and Agda,</a:t>
            </a:r>
          </a:p>
          <a:p>
            <a:r>
              <a:rPr lang="en-US"/>
              <a:t>while maintaining robustness across different types of proofs.</a:t>
            </a:r>
          </a:p>
          <a:p>
            <a:r>
              <a:rPr lang="en-US"/>
              <a:t>• Agda code: Generating Agda code with ChatGPT can be difficult as it requires</a:t>
            </a:r>
          </a:p>
          <a:p>
            <a:r>
              <a:rPr lang="en-US"/>
              <a:t>from ChatGPT to constantly meet all the complex syntactic rules with Agda.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6.png" Type="http://schemas.openxmlformats.org/officeDocument/2006/relationships/image"/><Relationship Id="rId4" Target="../media/image37.svg" Type="http://schemas.openxmlformats.org/officeDocument/2006/relationships/image"/><Relationship Id="rId5" Target="../media/image38.png" Type="http://schemas.openxmlformats.org/officeDocument/2006/relationships/image"/><Relationship Id="rId6" Target="../media/image3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40.png" Type="http://schemas.openxmlformats.org/officeDocument/2006/relationships/image"/><Relationship Id="rId4" Target="../media/image41.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2.png" Type="http://schemas.openxmlformats.org/officeDocument/2006/relationships/image"/><Relationship Id="rId4" Target="../media/image4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jpeg" Type="http://schemas.openxmlformats.org/officeDocument/2006/relationships/image"/><Relationship Id="rId3" Target="../media/VAGd5XMwuPw.mp4" Type="http://schemas.openxmlformats.org/officeDocument/2006/relationships/video"/><Relationship Id="rId4" Target="../media/VAGd5XMwuPw.mp4" Type="http://schemas.microsoft.com/office/2007/relationships/media"/></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2274063" y="675624"/>
            <a:ext cx="6893724" cy="1319490"/>
            <a:chOff x="0" y="0"/>
            <a:chExt cx="9999192" cy="1913890"/>
          </a:xfrm>
        </p:grpSpPr>
        <p:sp>
          <p:nvSpPr>
            <p:cNvPr name="Freeform 3" id="3"/>
            <p:cNvSpPr/>
            <p:nvPr/>
          </p:nvSpPr>
          <p:spPr>
            <a:xfrm flipH="false" flipV="false" rot="0">
              <a:off x="0" y="0"/>
              <a:ext cx="9999192" cy="1913890"/>
            </a:xfrm>
            <a:custGeom>
              <a:avLst/>
              <a:gdLst/>
              <a:ahLst/>
              <a:cxnLst/>
              <a:rect r="r" b="b" t="t" l="l"/>
              <a:pathLst>
                <a:path h="1913890" w="9999192">
                  <a:moveTo>
                    <a:pt x="9999192" y="956945"/>
                  </a:moveTo>
                  <a:cubicBezTo>
                    <a:pt x="9999192" y="1485392"/>
                    <a:pt x="9570820" y="1913890"/>
                    <a:pt x="9042247" y="1913890"/>
                  </a:cubicBezTo>
                  <a:lnTo>
                    <a:pt x="956945" y="1913890"/>
                  </a:lnTo>
                  <a:cubicBezTo>
                    <a:pt x="428371" y="1913890"/>
                    <a:pt x="0" y="1485392"/>
                    <a:pt x="0" y="956945"/>
                  </a:cubicBezTo>
                  <a:cubicBezTo>
                    <a:pt x="0" y="428371"/>
                    <a:pt x="428371" y="0"/>
                    <a:pt x="956945" y="0"/>
                  </a:cubicBezTo>
                  <a:lnTo>
                    <a:pt x="9042247" y="0"/>
                  </a:lnTo>
                  <a:cubicBezTo>
                    <a:pt x="9570694" y="0"/>
                    <a:pt x="9999192" y="428371"/>
                    <a:pt x="9999192" y="956945"/>
                  </a:cubicBezTo>
                  <a:close/>
                </a:path>
              </a:pathLst>
            </a:custGeom>
            <a:solidFill>
              <a:srgbClr val="2A2664"/>
            </a:solidFill>
          </p:spPr>
        </p:sp>
      </p:grpSp>
      <p:grpSp>
        <p:nvGrpSpPr>
          <p:cNvPr name="Group 4" id="4"/>
          <p:cNvGrpSpPr/>
          <p:nvPr/>
        </p:nvGrpSpPr>
        <p:grpSpPr>
          <a:xfrm rot="0">
            <a:off x="-1124443" y="8385195"/>
            <a:ext cx="20536886" cy="1319490"/>
            <a:chOff x="0" y="0"/>
            <a:chExt cx="29788293" cy="1913890"/>
          </a:xfrm>
        </p:grpSpPr>
        <p:sp>
          <p:nvSpPr>
            <p:cNvPr name="Freeform 5" id="5"/>
            <p:cNvSpPr/>
            <p:nvPr/>
          </p:nvSpPr>
          <p:spPr>
            <a:xfrm flipH="false" flipV="false" rot="0">
              <a:off x="0" y="0"/>
              <a:ext cx="29788293" cy="1913890"/>
            </a:xfrm>
            <a:custGeom>
              <a:avLst/>
              <a:gdLst/>
              <a:ahLst/>
              <a:cxnLst/>
              <a:rect r="r" b="b" t="t" l="l"/>
              <a:pathLst>
                <a:path h="1913890" w="29788293">
                  <a:moveTo>
                    <a:pt x="29788293" y="956945"/>
                  </a:moveTo>
                  <a:cubicBezTo>
                    <a:pt x="29788293" y="1485392"/>
                    <a:pt x="29359923" y="1913890"/>
                    <a:pt x="28831347" y="1913890"/>
                  </a:cubicBezTo>
                  <a:lnTo>
                    <a:pt x="956945" y="1913890"/>
                  </a:lnTo>
                  <a:cubicBezTo>
                    <a:pt x="428371" y="1913890"/>
                    <a:pt x="0" y="1485392"/>
                    <a:pt x="0" y="956945"/>
                  </a:cubicBezTo>
                  <a:cubicBezTo>
                    <a:pt x="0" y="428371"/>
                    <a:pt x="428371" y="0"/>
                    <a:pt x="956945" y="0"/>
                  </a:cubicBezTo>
                  <a:lnTo>
                    <a:pt x="28831347" y="0"/>
                  </a:lnTo>
                  <a:cubicBezTo>
                    <a:pt x="29359796" y="0"/>
                    <a:pt x="29788293" y="428371"/>
                    <a:pt x="29788293" y="956945"/>
                  </a:cubicBezTo>
                  <a:close/>
                </a:path>
              </a:pathLst>
            </a:custGeom>
            <a:solidFill>
              <a:srgbClr val="2B2664"/>
            </a:solidFill>
          </p:spPr>
        </p:sp>
      </p:grpSp>
      <p:sp>
        <p:nvSpPr>
          <p:cNvPr name="Freeform 6" id="6"/>
          <p:cNvSpPr/>
          <p:nvPr/>
        </p:nvSpPr>
        <p:spPr>
          <a:xfrm flipH="false" flipV="false" rot="0">
            <a:off x="237727" y="675624"/>
            <a:ext cx="5677189" cy="1340133"/>
          </a:xfrm>
          <a:custGeom>
            <a:avLst/>
            <a:gdLst/>
            <a:ahLst/>
            <a:cxnLst/>
            <a:rect r="r" b="b" t="t" l="l"/>
            <a:pathLst>
              <a:path h="1340133" w="5677189">
                <a:moveTo>
                  <a:pt x="0" y="0"/>
                </a:moveTo>
                <a:lnTo>
                  <a:pt x="5677190" y="0"/>
                </a:lnTo>
                <a:lnTo>
                  <a:pt x="5677190" y="1340134"/>
                </a:lnTo>
                <a:lnTo>
                  <a:pt x="0" y="1340134"/>
                </a:lnTo>
                <a:lnTo>
                  <a:pt x="0" y="0"/>
                </a:lnTo>
                <a:close/>
              </a:path>
            </a:pathLst>
          </a:custGeom>
          <a:blipFill>
            <a:blip r:embed="rId2"/>
            <a:stretch>
              <a:fillRect l="0" t="0" r="0" b="0"/>
            </a:stretch>
          </a:blipFill>
        </p:spPr>
      </p:sp>
      <p:sp>
        <p:nvSpPr>
          <p:cNvPr name="TextBox 7" id="7"/>
          <p:cNvSpPr txBox="true"/>
          <p:nvPr/>
        </p:nvSpPr>
        <p:spPr>
          <a:xfrm rot="0">
            <a:off x="330111" y="3755326"/>
            <a:ext cx="17812545" cy="2733039"/>
          </a:xfrm>
          <a:prstGeom prst="rect">
            <a:avLst/>
          </a:prstGeom>
        </p:spPr>
        <p:txBody>
          <a:bodyPr anchor="t" rtlCol="false" tIns="0" lIns="0" bIns="0" rIns="0">
            <a:spAutoFit/>
          </a:bodyPr>
          <a:lstStyle/>
          <a:p>
            <a:pPr algn="ctr">
              <a:lnSpc>
                <a:spcPts val="7099"/>
              </a:lnSpc>
            </a:pPr>
            <a:r>
              <a:rPr lang="en-US" sz="7099">
                <a:solidFill>
                  <a:srgbClr val="2B2664"/>
                </a:solidFill>
                <a:latin typeface="League Spartan"/>
                <a:ea typeface="League Spartan"/>
                <a:cs typeface="League Spartan"/>
                <a:sym typeface="League Spartan"/>
              </a:rPr>
              <a:t>Interactive Mathematical Proof Verification System</a:t>
            </a:r>
          </a:p>
          <a:p>
            <a:pPr algn="ctr">
              <a:lnSpc>
                <a:spcPts val="7099"/>
              </a:lnSpc>
            </a:pPr>
          </a:p>
        </p:txBody>
      </p:sp>
      <p:sp>
        <p:nvSpPr>
          <p:cNvPr name="TextBox 8" id="8"/>
          <p:cNvSpPr txBox="true"/>
          <p:nvPr/>
        </p:nvSpPr>
        <p:spPr>
          <a:xfrm rot="0">
            <a:off x="12794796" y="869986"/>
            <a:ext cx="5347861" cy="921241"/>
          </a:xfrm>
          <a:prstGeom prst="rect">
            <a:avLst/>
          </a:prstGeom>
        </p:spPr>
        <p:txBody>
          <a:bodyPr anchor="t" rtlCol="false" tIns="0" lIns="0" bIns="0" rIns="0">
            <a:spAutoFit/>
          </a:bodyPr>
          <a:lstStyle/>
          <a:p>
            <a:pPr algn="l">
              <a:lnSpc>
                <a:spcPts val="3619"/>
              </a:lnSpc>
            </a:pPr>
            <a:r>
              <a:rPr lang="en-US" sz="2966">
                <a:solidFill>
                  <a:srgbClr val="FBFDF4"/>
                </a:solidFill>
                <a:latin typeface="Garet"/>
                <a:ea typeface="Garet"/>
                <a:cs typeface="Garet"/>
                <a:sym typeface="Garet"/>
              </a:rPr>
              <a:t>Capstone Project Phase B</a:t>
            </a:r>
          </a:p>
          <a:p>
            <a:pPr algn="ctr">
              <a:lnSpc>
                <a:spcPts val="3619"/>
              </a:lnSpc>
            </a:pPr>
            <a:r>
              <a:rPr lang="en-US" sz="2966">
                <a:solidFill>
                  <a:srgbClr val="FBFDF4"/>
                </a:solidFill>
                <a:latin typeface="Garet"/>
                <a:ea typeface="Garet"/>
                <a:cs typeface="Garet"/>
                <a:sym typeface="Garet"/>
              </a:rPr>
              <a:t>24-2-R-15</a:t>
            </a:r>
          </a:p>
        </p:txBody>
      </p:sp>
      <p:sp>
        <p:nvSpPr>
          <p:cNvPr name="TextBox 9" id="9"/>
          <p:cNvSpPr txBox="true"/>
          <p:nvPr/>
        </p:nvSpPr>
        <p:spPr>
          <a:xfrm rot="0">
            <a:off x="3217297" y="5526340"/>
            <a:ext cx="11853406" cy="514350"/>
          </a:xfrm>
          <a:prstGeom prst="rect">
            <a:avLst/>
          </a:prstGeom>
        </p:spPr>
        <p:txBody>
          <a:bodyPr anchor="t" rtlCol="false" tIns="0" lIns="0" bIns="0" rIns="0">
            <a:spAutoFit/>
          </a:bodyPr>
          <a:lstStyle/>
          <a:p>
            <a:pPr algn="ctr">
              <a:lnSpc>
                <a:spcPts val="4080"/>
              </a:lnSpc>
            </a:pPr>
            <a:r>
              <a:rPr lang="en-US" sz="3400">
                <a:solidFill>
                  <a:srgbClr val="2B2664"/>
                </a:solidFill>
                <a:latin typeface="Garet"/>
                <a:ea typeface="Garet"/>
                <a:cs typeface="Garet"/>
                <a:sym typeface="Garet"/>
              </a:rPr>
              <a:t>Daniel Armaganian, Tzahi Bakal</a:t>
            </a:r>
          </a:p>
        </p:txBody>
      </p:sp>
      <p:sp>
        <p:nvSpPr>
          <p:cNvPr name="TextBox 10" id="10"/>
          <p:cNvSpPr txBox="true"/>
          <p:nvPr/>
        </p:nvSpPr>
        <p:spPr>
          <a:xfrm rot="0">
            <a:off x="3217297" y="7763432"/>
            <a:ext cx="11853406" cy="514350"/>
          </a:xfrm>
          <a:prstGeom prst="rect">
            <a:avLst/>
          </a:prstGeom>
        </p:spPr>
        <p:txBody>
          <a:bodyPr anchor="t" rtlCol="false" tIns="0" lIns="0" bIns="0" rIns="0">
            <a:spAutoFit/>
          </a:bodyPr>
          <a:lstStyle/>
          <a:p>
            <a:pPr algn="ctr">
              <a:lnSpc>
                <a:spcPts val="4080"/>
              </a:lnSpc>
            </a:pPr>
            <a:r>
              <a:rPr lang="en-US" sz="3400">
                <a:solidFill>
                  <a:srgbClr val="2B2664"/>
                </a:solidFill>
                <a:latin typeface="Garet"/>
                <a:ea typeface="Garet"/>
                <a:cs typeface="Garet"/>
                <a:sym typeface="Garet"/>
              </a:rPr>
              <a:t>Supervisors: Dr. Dan Lemberg, Mrs. Elena Kramer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477694"/>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2235513" y="2988382"/>
            <a:ext cx="9349487" cy="1730568"/>
            <a:chOff x="0" y="0"/>
            <a:chExt cx="2430980" cy="449969"/>
          </a:xfrm>
        </p:grpSpPr>
        <p:sp>
          <p:nvSpPr>
            <p:cNvPr name="Freeform 5" id="5"/>
            <p:cNvSpPr/>
            <p:nvPr/>
          </p:nvSpPr>
          <p:spPr>
            <a:xfrm flipH="false" flipV="false" rot="0">
              <a:off x="0" y="0"/>
              <a:ext cx="2430980" cy="449969"/>
            </a:xfrm>
            <a:custGeom>
              <a:avLst/>
              <a:gdLst/>
              <a:ahLst/>
              <a:cxnLst/>
              <a:rect r="r" b="b" t="t" l="l"/>
              <a:pathLst>
                <a:path h="449969" w="2430980">
                  <a:moveTo>
                    <a:pt x="2227780" y="0"/>
                  </a:moveTo>
                  <a:cubicBezTo>
                    <a:pt x="2340004" y="0"/>
                    <a:pt x="2430980" y="100729"/>
                    <a:pt x="2430980" y="224984"/>
                  </a:cubicBezTo>
                  <a:cubicBezTo>
                    <a:pt x="2430980" y="349240"/>
                    <a:pt x="2340004" y="449969"/>
                    <a:pt x="2227780"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6" id="6"/>
            <p:cNvSpPr txBox="true"/>
            <p:nvPr/>
          </p:nvSpPr>
          <p:spPr>
            <a:xfrm>
              <a:off x="0" y="19050"/>
              <a:ext cx="2430980" cy="430919"/>
            </a:xfrm>
            <a:prstGeom prst="rect">
              <a:avLst/>
            </a:prstGeom>
          </p:spPr>
          <p:txBody>
            <a:bodyPr anchor="ctr" rtlCol="false" tIns="50800" lIns="50800" bIns="50800" rIns="50800"/>
            <a:lstStyle/>
            <a:p>
              <a:pPr algn="ctr">
                <a:lnSpc>
                  <a:spcPts val="1942"/>
                </a:lnSpc>
              </a:pPr>
            </a:p>
          </p:txBody>
        </p:sp>
      </p:grpSp>
      <p:grpSp>
        <p:nvGrpSpPr>
          <p:cNvPr name="Group 7" id="7"/>
          <p:cNvGrpSpPr/>
          <p:nvPr/>
        </p:nvGrpSpPr>
        <p:grpSpPr>
          <a:xfrm rot="0">
            <a:off x="1434857" y="2990741"/>
            <a:ext cx="2642891" cy="1728744"/>
            <a:chOff x="0" y="0"/>
            <a:chExt cx="522636" cy="341862"/>
          </a:xfrm>
        </p:grpSpPr>
        <p:sp>
          <p:nvSpPr>
            <p:cNvPr name="Freeform 8" id="8"/>
            <p:cNvSpPr/>
            <p:nvPr/>
          </p:nvSpPr>
          <p:spPr>
            <a:xfrm flipH="false" flipV="false" rot="0">
              <a:off x="0" y="0"/>
              <a:ext cx="522636" cy="341862"/>
            </a:xfrm>
            <a:custGeom>
              <a:avLst/>
              <a:gdLst/>
              <a:ahLst/>
              <a:cxnLst/>
              <a:rect r="r" b="b" t="t" l="l"/>
              <a:pathLst>
                <a:path h="341862" w="522636">
                  <a:moveTo>
                    <a:pt x="261318" y="0"/>
                  </a:moveTo>
                  <a:cubicBezTo>
                    <a:pt x="116996" y="0"/>
                    <a:pt x="0" y="76528"/>
                    <a:pt x="0" y="170931"/>
                  </a:cubicBezTo>
                  <a:cubicBezTo>
                    <a:pt x="0" y="265334"/>
                    <a:pt x="116996" y="341862"/>
                    <a:pt x="261318" y="341862"/>
                  </a:cubicBezTo>
                  <a:cubicBezTo>
                    <a:pt x="405640" y="341862"/>
                    <a:pt x="522636" y="265334"/>
                    <a:pt x="522636" y="170931"/>
                  </a:cubicBezTo>
                  <a:cubicBezTo>
                    <a:pt x="522636" y="76528"/>
                    <a:pt x="405640" y="0"/>
                    <a:pt x="261318" y="0"/>
                  </a:cubicBezTo>
                  <a:close/>
                </a:path>
              </a:pathLst>
            </a:custGeom>
            <a:solidFill>
              <a:srgbClr val="ADAAC7"/>
            </a:solidFill>
          </p:spPr>
        </p:sp>
        <p:sp>
          <p:nvSpPr>
            <p:cNvPr name="TextBox 9" id="9"/>
            <p:cNvSpPr txBox="true"/>
            <p:nvPr/>
          </p:nvSpPr>
          <p:spPr>
            <a:xfrm>
              <a:off x="48997" y="32050"/>
              <a:ext cx="424642" cy="277763"/>
            </a:xfrm>
            <a:prstGeom prst="rect">
              <a:avLst/>
            </a:prstGeom>
          </p:spPr>
          <p:txBody>
            <a:bodyPr anchor="ctr" rtlCol="false" tIns="50800" lIns="50800" bIns="50800" rIns="50800"/>
            <a:lstStyle/>
            <a:p>
              <a:pPr algn="ctr">
                <a:lnSpc>
                  <a:spcPts val="3719"/>
                </a:lnSpc>
              </a:pPr>
            </a:p>
          </p:txBody>
        </p:sp>
      </p:grpSp>
      <p:grpSp>
        <p:nvGrpSpPr>
          <p:cNvPr name="Group 10" id="10"/>
          <p:cNvGrpSpPr/>
          <p:nvPr/>
        </p:nvGrpSpPr>
        <p:grpSpPr>
          <a:xfrm rot="0">
            <a:off x="1767305" y="7512669"/>
            <a:ext cx="9817694" cy="1730568"/>
            <a:chOff x="0" y="0"/>
            <a:chExt cx="2552720" cy="449969"/>
          </a:xfrm>
        </p:grpSpPr>
        <p:sp>
          <p:nvSpPr>
            <p:cNvPr name="Freeform 11" id="11"/>
            <p:cNvSpPr/>
            <p:nvPr/>
          </p:nvSpPr>
          <p:spPr>
            <a:xfrm flipH="false" flipV="false" rot="0">
              <a:off x="0" y="0"/>
              <a:ext cx="2552720" cy="449969"/>
            </a:xfrm>
            <a:custGeom>
              <a:avLst/>
              <a:gdLst/>
              <a:ahLst/>
              <a:cxnLst/>
              <a:rect r="r" b="b" t="t" l="l"/>
              <a:pathLst>
                <a:path h="449969" w="2552720">
                  <a:moveTo>
                    <a:pt x="2349520" y="0"/>
                  </a:moveTo>
                  <a:cubicBezTo>
                    <a:pt x="2461744" y="0"/>
                    <a:pt x="2552720" y="100729"/>
                    <a:pt x="2552720" y="224984"/>
                  </a:cubicBezTo>
                  <a:cubicBezTo>
                    <a:pt x="2552720" y="349240"/>
                    <a:pt x="2461744" y="449969"/>
                    <a:pt x="2349520"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12" id="12"/>
            <p:cNvSpPr txBox="true"/>
            <p:nvPr/>
          </p:nvSpPr>
          <p:spPr>
            <a:xfrm>
              <a:off x="0" y="19050"/>
              <a:ext cx="2552720" cy="430919"/>
            </a:xfrm>
            <a:prstGeom prst="rect">
              <a:avLst/>
            </a:prstGeom>
          </p:spPr>
          <p:txBody>
            <a:bodyPr anchor="ctr" rtlCol="false" tIns="50800" lIns="50800" bIns="50800" rIns="50800"/>
            <a:lstStyle/>
            <a:p>
              <a:pPr algn="ctr">
                <a:lnSpc>
                  <a:spcPts val="1942"/>
                </a:lnSpc>
              </a:pPr>
            </a:p>
          </p:txBody>
        </p:sp>
      </p:grpSp>
      <p:grpSp>
        <p:nvGrpSpPr>
          <p:cNvPr name="Group 13" id="13"/>
          <p:cNvGrpSpPr/>
          <p:nvPr/>
        </p:nvGrpSpPr>
        <p:grpSpPr>
          <a:xfrm rot="0">
            <a:off x="1424417" y="7512669"/>
            <a:ext cx="2642891" cy="1730568"/>
            <a:chOff x="0" y="0"/>
            <a:chExt cx="522636" cy="342223"/>
          </a:xfrm>
        </p:grpSpPr>
        <p:sp>
          <p:nvSpPr>
            <p:cNvPr name="Freeform 14" id="14"/>
            <p:cNvSpPr/>
            <p:nvPr/>
          </p:nvSpPr>
          <p:spPr>
            <a:xfrm flipH="false" flipV="false" rot="0">
              <a:off x="0" y="0"/>
              <a:ext cx="522636" cy="342223"/>
            </a:xfrm>
            <a:custGeom>
              <a:avLst/>
              <a:gdLst/>
              <a:ahLst/>
              <a:cxnLst/>
              <a:rect r="r" b="b" t="t" l="l"/>
              <a:pathLst>
                <a:path h="342223" w="522636">
                  <a:moveTo>
                    <a:pt x="261318" y="0"/>
                  </a:moveTo>
                  <a:cubicBezTo>
                    <a:pt x="116996" y="0"/>
                    <a:pt x="0" y="76609"/>
                    <a:pt x="0" y="171112"/>
                  </a:cubicBezTo>
                  <a:cubicBezTo>
                    <a:pt x="0" y="265614"/>
                    <a:pt x="116996" y="342223"/>
                    <a:pt x="261318" y="342223"/>
                  </a:cubicBezTo>
                  <a:cubicBezTo>
                    <a:pt x="405640" y="342223"/>
                    <a:pt x="522636" y="265614"/>
                    <a:pt x="522636" y="171112"/>
                  </a:cubicBezTo>
                  <a:cubicBezTo>
                    <a:pt x="522636" y="76609"/>
                    <a:pt x="405640" y="0"/>
                    <a:pt x="261318" y="0"/>
                  </a:cubicBezTo>
                  <a:close/>
                </a:path>
              </a:pathLst>
            </a:custGeom>
            <a:solidFill>
              <a:srgbClr val="ADAAC7"/>
            </a:solidFill>
          </p:spPr>
        </p:sp>
        <p:sp>
          <p:nvSpPr>
            <p:cNvPr name="TextBox 15" id="15"/>
            <p:cNvSpPr txBox="true"/>
            <p:nvPr/>
          </p:nvSpPr>
          <p:spPr>
            <a:xfrm>
              <a:off x="48997" y="32083"/>
              <a:ext cx="424642" cy="278056"/>
            </a:xfrm>
            <a:prstGeom prst="rect">
              <a:avLst/>
            </a:prstGeom>
          </p:spPr>
          <p:txBody>
            <a:bodyPr anchor="ctr" rtlCol="false" tIns="50800" lIns="50800" bIns="50800" rIns="50800"/>
            <a:lstStyle/>
            <a:p>
              <a:pPr algn="ctr">
                <a:lnSpc>
                  <a:spcPts val="3719"/>
                </a:lnSpc>
              </a:pPr>
            </a:p>
          </p:txBody>
        </p:sp>
      </p:grpSp>
      <p:sp>
        <p:nvSpPr>
          <p:cNvPr name="Freeform 16" id="16"/>
          <p:cNvSpPr/>
          <p:nvPr/>
        </p:nvSpPr>
        <p:spPr>
          <a:xfrm flipH="false" flipV="false" rot="0">
            <a:off x="13186983" y="3565108"/>
            <a:ext cx="3846216" cy="4558479"/>
          </a:xfrm>
          <a:custGeom>
            <a:avLst/>
            <a:gdLst/>
            <a:ahLst/>
            <a:cxnLst/>
            <a:rect r="r" b="b" t="t" l="l"/>
            <a:pathLst>
              <a:path h="4558479" w="3846216">
                <a:moveTo>
                  <a:pt x="0" y="0"/>
                </a:moveTo>
                <a:lnTo>
                  <a:pt x="3846217" y="0"/>
                </a:lnTo>
                <a:lnTo>
                  <a:pt x="3846217" y="4558479"/>
                </a:lnTo>
                <a:lnTo>
                  <a:pt x="0" y="45584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3177909" y="1143000"/>
            <a:ext cx="11932183"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Motivation</a:t>
            </a:r>
          </a:p>
        </p:txBody>
      </p:sp>
      <p:sp>
        <p:nvSpPr>
          <p:cNvPr name="TextBox 18" id="18"/>
          <p:cNvSpPr txBox="true"/>
          <p:nvPr/>
        </p:nvSpPr>
        <p:spPr>
          <a:xfrm rot="0">
            <a:off x="1329401" y="3621751"/>
            <a:ext cx="2872156" cy="466725"/>
          </a:xfrm>
          <a:prstGeom prst="rect">
            <a:avLst/>
          </a:prstGeom>
        </p:spPr>
        <p:txBody>
          <a:bodyPr anchor="t" rtlCol="false" tIns="0" lIns="0" bIns="0" rIns="0">
            <a:spAutoFit/>
          </a:bodyPr>
          <a:lstStyle/>
          <a:p>
            <a:pPr algn="ctr">
              <a:lnSpc>
                <a:spcPts val="3617"/>
              </a:lnSpc>
              <a:spcBef>
                <a:spcPct val="0"/>
              </a:spcBef>
            </a:pPr>
            <a:r>
              <a:rPr lang="en-US" b="true" sz="3014">
                <a:solidFill>
                  <a:srgbClr val="16123E"/>
                </a:solidFill>
                <a:latin typeface="Garet Bold"/>
                <a:ea typeface="Garet Bold"/>
                <a:cs typeface="Garet Bold"/>
                <a:sym typeface="Garet Bold"/>
              </a:rPr>
              <a:t>Background</a:t>
            </a:r>
          </a:p>
        </p:txBody>
      </p:sp>
      <p:grpSp>
        <p:nvGrpSpPr>
          <p:cNvPr name="Group 19" id="19"/>
          <p:cNvGrpSpPr/>
          <p:nvPr/>
        </p:nvGrpSpPr>
        <p:grpSpPr>
          <a:xfrm rot="0">
            <a:off x="2235513" y="5212426"/>
            <a:ext cx="9349487" cy="1730568"/>
            <a:chOff x="0" y="0"/>
            <a:chExt cx="2430980" cy="449969"/>
          </a:xfrm>
        </p:grpSpPr>
        <p:sp>
          <p:nvSpPr>
            <p:cNvPr name="Freeform 20" id="20"/>
            <p:cNvSpPr/>
            <p:nvPr/>
          </p:nvSpPr>
          <p:spPr>
            <a:xfrm flipH="false" flipV="false" rot="0">
              <a:off x="0" y="0"/>
              <a:ext cx="2430980" cy="449969"/>
            </a:xfrm>
            <a:custGeom>
              <a:avLst/>
              <a:gdLst/>
              <a:ahLst/>
              <a:cxnLst/>
              <a:rect r="r" b="b" t="t" l="l"/>
              <a:pathLst>
                <a:path h="449969" w="2430980">
                  <a:moveTo>
                    <a:pt x="2227780" y="0"/>
                  </a:moveTo>
                  <a:cubicBezTo>
                    <a:pt x="2340004" y="0"/>
                    <a:pt x="2430980" y="100729"/>
                    <a:pt x="2430980" y="224984"/>
                  </a:cubicBezTo>
                  <a:cubicBezTo>
                    <a:pt x="2430980" y="349240"/>
                    <a:pt x="2340004" y="449969"/>
                    <a:pt x="2227780"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21" id="21"/>
            <p:cNvSpPr txBox="true"/>
            <p:nvPr/>
          </p:nvSpPr>
          <p:spPr>
            <a:xfrm>
              <a:off x="0" y="19050"/>
              <a:ext cx="2430980" cy="430919"/>
            </a:xfrm>
            <a:prstGeom prst="rect">
              <a:avLst/>
            </a:prstGeom>
          </p:spPr>
          <p:txBody>
            <a:bodyPr anchor="ctr" rtlCol="false" tIns="50800" lIns="50800" bIns="50800" rIns="50800"/>
            <a:lstStyle/>
            <a:p>
              <a:pPr algn="ctr">
                <a:lnSpc>
                  <a:spcPts val="1942"/>
                </a:lnSpc>
              </a:pPr>
            </a:p>
          </p:txBody>
        </p:sp>
      </p:grpSp>
      <p:grpSp>
        <p:nvGrpSpPr>
          <p:cNvPr name="Group 22" id="22"/>
          <p:cNvGrpSpPr/>
          <p:nvPr/>
        </p:nvGrpSpPr>
        <p:grpSpPr>
          <a:xfrm rot="0">
            <a:off x="1434857" y="5212426"/>
            <a:ext cx="2642891" cy="1730568"/>
            <a:chOff x="0" y="0"/>
            <a:chExt cx="522636" cy="342223"/>
          </a:xfrm>
        </p:grpSpPr>
        <p:sp>
          <p:nvSpPr>
            <p:cNvPr name="Freeform 23" id="23"/>
            <p:cNvSpPr/>
            <p:nvPr/>
          </p:nvSpPr>
          <p:spPr>
            <a:xfrm flipH="false" flipV="false" rot="0">
              <a:off x="0" y="0"/>
              <a:ext cx="522636" cy="342223"/>
            </a:xfrm>
            <a:custGeom>
              <a:avLst/>
              <a:gdLst/>
              <a:ahLst/>
              <a:cxnLst/>
              <a:rect r="r" b="b" t="t" l="l"/>
              <a:pathLst>
                <a:path h="342223" w="522636">
                  <a:moveTo>
                    <a:pt x="261318" y="0"/>
                  </a:moveTo>
                  <a:cubicBezTo>
                    <a:pt x="116996" y="0"/>
                    <a:pt x="0" y="76609"/>
                    <a:pt x="0" y="171112"/>
                  </a:cubicBezTo>
                  <a:cubicBezTo>
                    <a:pt x="0" y="265614"/>
                    <a:pt x="116996" y="342223"/>
                    <a:pt x="261318" y="342223"/>
                  </a:cubicBezTo>
                  <a:cubicBezTo>
                    <a:pt x="405640" y="342223"/>
                    <a:pt x="522636" y="265614"/>
                    <a:pt x="522636" y="171112"/>
                  </a:cubicBezTo>
                  <a:cubicBezTo>
                    <a:pt x="522636" y="76609"/>
                    <a:pt x="405640" y="0"/>
                    <a:pt x="261318" y="0"/>
                  </a:cubicBezTo>
                  <a:close/>
                </a:path>
              </a:pathLst>
            </a:custGeom>
            <a:solidFill>
              <a:srgbClr val="ADAAC7"/>
            </a:solidFill>
          </p:spPr>
        </p:sp>
        <p:sp>
          <p:nvSpPr>
            <p:cNvPr name="TextBox 24" id="24"/>
            <p:cNvSpPr txBox="true"/>
            <p:nvPr/>
          </p:nvSpPr>
          <p:spPr>
            <a:xfrm>
              <a:off x="48997" y="32083"/>
              <a:ext cx="424642" cy="278056"/>
            </a:xfrm>
            <a:prstGeom prst="rect">
              <a:avLst/>
            </a:prstGeom>
          </p:spPr>
          <p:txBody>
            <a:bodyPr anchor="ctr" rtlCol="false" tIns="50800" lIns="50800" bIns="50800" rIns="50800"/>
            <a:lstStyle/>
            <a:p>
              <a:pPr algn="ctr">
                <a:lnSpc>
                  <a:spcPts val="3719"/>
                </a:lnSpc>
              </a:pPr>
            </a:p>
          </p:txBody>
        </p:sp>
      </p:grpSp>
      <p:sp>
        <p:nvSpPr>
          <p:cNvPr name="TextBox 25" id="25"/>
          <p:cNvSpPr txBox="true"/>
          <p:nvPr/>
        </p:nvSpPr>
        <p:spPr>
          <a:xfrm rot="0">
            <a:off x="1559929" y="5844347"/>
            <a:ext cx="2392746" cy="466725"/>
          </a:xfrm>
          <a:prstGeom prst="rect">
            <a:avLst/>
          </a:prstGeom>
        </p:spPr>
        <p:txBody>
          <a:bodyPr anchor="t" rtlCol="false" tIns="0" lIns="0" bIns="0" rIns="0">
            <a:spAutoFit/>
          </a:bodyPr>
          <a:lstStyle/>
          <a:p>
            <a:pPr algn="ctr">
              <a:lnSpc>
                <a:spcPts val="3617"/>
              </a:lnSpc>
              <a:spcBef>
                <a:spcPct val="0"/>
              </a:spcBef>
            </a:pPr>
            <a:r>
              <a:rPr lang="en-US" b="true" sz="3014">
                <a:solidFill>
                  <a:srgbClr val="16123E"/>
                </a:solidFill>
                <a:latin typeface="Garet Bold"/>
                <a:ea typeface="Garet Bold"/>
                <a:cs typeface="Garet Bold"/>
                <a:sym typeface="Garet Bold"/>
              </a:rPr>
              <a:t>Problem</a:t>
            </a:r>
          </a:p>
        </p:txBody>
      </p:sp>
      <p:sp>
        <p:nvSpPr>
          <p:cNvPr name="TextBox 26" id="26"/>
          <p:cNvSpPr txBox="true"/>
          <p:nvPr/>
        </p:nvSpPr>
        <p:spPr>
          <a:xfrm rot="0">
            <a:off x="1549489" y="8172301"/>
            <a:ext cx="2392746" cy="466725"/>
          </a:xfrm>
          <a:prstGeom prst="rect">
            <a:avLst/>
          </a:prstGeom>
        </p:spPr>
        <p:txBody>
          <a:bodyPr anchor="t" rtlCol="false" tIns="0" lIns="0" bIns="0" rIns="0">
            <a:spAutoFit/>
          </a:bodyPr>
          <a:lstStyle/>
          <a:p>
            <a:pPr algn="ctr">
              <a:lnSpc>
                <a:spcPts val="3617"/>
              </a:lnSpc>
              <a:spcBef>
                <a:spcPct val="0"/>
              </a:spcBef>
            </a:pPr>
            <a:r>
              <a:rPr lang="en-US" b="true" sz="3014">
                <a:solidFill>
                  <a:srgbClr val="16123E"/>
                </a:solidFill>
                <a:latin typeface="Garet Bold"/>
                <a:ea typeface="Garet Bold"/>
                <a:cs typeface="Garet Bold"/>
                <a:sym typeface="Garet Bold"/>
              </a:rPr>
              <a:t>Need</a:t>
            </a:r>
          </a:p>
        </p:txBody>
      </p:sp>
      <p:sp>
        <p:nvSpPr>
          <p:cNvPr name="TextBox 27" id="27"/>
          <p:cNvSpPr txBox="true"/>
          <p:nvPr/>
        </p:nvSpPr>
        <p:spPr>
          <a:xfrm rot="0">
            <a:off x="4332262" y="7892178"/>
            <a:ext cx="6812225" cy="971550"/>
          </a:xfrm>
          <a:prstGeom prst="rect">
            <a:avLst/>
          </a:prstGeom>
        </p:spPr>
        <p:txBody>
          <a:bodyPr anchor="t" rtlCol="false" tIns="0" lIns="0" bIns="0" rIns="0">
            <a:spAutoFit/>
          </a:bodyPr>
          <a:lstStyle/>
          <a:p>
            <a:pPr algn="l">
              <a:lnSpc>
                <a:spcPts val="3858"/>
              </a:lnSpc>
              <a:spcBef>
                <a:spcPct val="0"/>
              </a:spcBef>
            </a:pPr>
            <a:r>
              <a:rPr lang="en-US" sz="3215">
                <a:solidFill>
                  <a:srgbClr val="16123E"/>
                </a:solidFill>
                <a:latin typeface="Garet"/>
                <a:ea typeface="Garet"/>
                <a:cs typeface="Garet"/>
                <a:sym typeface="Garet"/>
              </a:rPr>
              <a:t>A system to verify AI-generated proofs for accuracy.</a:t>
            </a:r>
          </a:p>
        </p:txBody>
      </p:sp>
      <p:sp>
        <p:nvSpPr>
          <p:cNvPr name="TextBox 28" id="28"/>
          <p:cNvSpPr txBox="true"/>
          <p:nvPr/>
        </p:nvSpPr>
        <p:spPr>
          <a:xfrm rot="0">
            <a:off x="4332262" y="5591935"/>
            <a:ext cx="6080705" cy="971550"/>
          </a:xfrm>
          <a:prstGeom prst="rect">
            <a:avLst/>
          </a:prstGeom>
        </p:spPr>
        <p:txBody>
          <a:bodyPr anchor="t" rtlCol="false" tIns="0" lIns="0" bIns="0" rIns="0">
            <a:spAutoFit/>
          </a:bodyPr>
          <a:lstStyle/>
          <a:p>
            <a:pPr algn="l">
              <a:lnSpc>
                <a:spcPts val="3858"/>
              </a:lnSpc>
              <a:spcBef>
                <a:spcPct val="0"/>
              </a:spcBef>
            </a:pPr>
            <a:r>
              <a:rPr lang="en-US" sz="3215">
                <a:solidFill>
                  <a:srgbClr val="16123E"/>
                </a:solidFill>
                <a:latin typeface="Garet"/>
                <a:ea typeface="Garet"/>
                <a:cs typeface="Garet"/>
                <a:sym typeface="Garet"/>
              </a:rPr>
              <a:t>ChatGPT lacks the ability to verify these proofs.</a:t>
            </a:r>
          </a:p>
        </p:txBody>
      </p:sp>
      <p:sp>
        <p:nvSpPr>
          <p:cNvPr name="TextBox 29" id="29"/>
          <p:cNvSpPr txBox="true"/>
          <p:nvPr/>
        </p:nvSpPr>
        <p:spPr>
          <a:xfrm rot="0">
            <a:off x="4332262" y="3369272"/>
            <a:ext cx="6996295" cy="971682"/>
          </a:xfrm>
          <a:prstGeom prst="rect">
            <a:avLst/>
          </a:prstGeom>
        </p:spPr>
        <p:txBody>
          <a:bodyPr anchor="t" rtlCol="false" tIns="0" lIns="0" bIns="0" rIns="0">
            <a:spAutoFit/>
          </a:bodyPr>
          <a:lstStyle/>
          <a:p>
            <a:pPr algn="l">
              <a:lnSpc>
                <a:spcPts val="3858"/>
              </a:lnSpc>
              <a:spcBef>
                <a:spcPct val="0"/>
              </a:spcBef>
            </a:pPr>
            <a:r>
              <a:rPr lang="en-US" sz="3215">
                <a:solidFill>
                  <a:srgbClr val="16123E"/>
                </a:solidFill>
                <a:latin typeface="Garet"/>
                <a:ea typeface="Garet"/>
                <a:cs typeface="Garet"/>
                <a:sym typeface="Garet"/>
              </a:rPr>
              <a:t>LLMs like ChatGPT, can generate complex mathematical proofs.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41465"/>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3417796" y="3438226"/>
            <a:ext cx="2327285" cy="1705274"/>
            <a:chOff x="0" y="0"/>
            <a:chExt cx="522636" cy="382952"/>
          </a:xfrm>
        </p:grpSpPr>
        <p:sp>
          <p:nvSpPr>
            <p:cNvPr name="Freeform 5" id="5"/>
            <p:cNvSpPr/>
            <p:nvPr/>
          </p:nvSpPr>
          <p:spPr>
            <a:xfrm flipH="false" flipV="false" rot="0">
              <a:off x="0" y="0"/>
              <a:ext cx="522636" cy="382952"/>
            </a:xfrm>
            <a:custGeom>
              <a:avLst/>
              <a:gdLst/>
              <a:ahLst/>
              <a:cxnLst/>
              <a:rect r="r" b="b" t="t" l="l"/>
              <a:pathLst>
                <a:path h="382952" w="522636">
                  <a:moveTo>
                    <a:pt x="261318" y="0"/>
                  </a:moveTo>
                  <a:cubicBezTo>
                    <a:pt x="116996" y="0"/>
                    <a:pt x="0" y="85727"/>
                    <a:pt x="0" y="191476"/>
                  </a:cubicBezTo>
                  <a:cubicBezTo>
                    <a:pt x="0" y="297225"/>
                    <a:pt x="116996" y="382952"/>
                    <a:pt x="261318" y="382952"/>
                  </a:cubicBezTo>
                  <a:cubicBezTo>
                    <a:pt x="405640" y="382952"/>
                    <a:pt x="522636" y="297225"/>
                    <a:pt x="522636" y="191476"/>
                  </a:cubicBezTo>
                  <a:cubicBezTo>
                    <a:pt x="522636" y="85727"/>
                    <a:pt x="405640" y="0"/>
                    <a:pt x="261318" y="0"/>
                  </a:cubicBezTo>
                  <a:close/>
                </a:path>
              </a:pathLst>
            </a:custGeom>
            <a:solidFill>
              <a:srgbClr val="C6C4D7"/>
            </a:solidFill>
          </p:spPr>
        </p:sp>
        <p:sp>
          <p:nvSpPr>
            <p:cNvPr name="TextBox 6" id="6"/>
            <p:cNvSpPr txBox="true"/>
            <p:nvPr/>
          </p:nvSpPr>
          <p:spPr>
            <a:xfrm>
              <a:off x="48997" y="26377"/>
              <a:ext cx="424642" cy="320673"/>
            </a:xfrm>
            <a:prstGeom prst="rect">
              <a:avLst/>
            </a:prstGeom>
          </p:spPr>
          <p:txBody>
            <a:bodyPr anchor="ctr" rtlCol="false" tIns="50800" lIns="50800" bIns="50800" rIns="50800"/>
            <a:lstStyle/>
            <a:p>
              <a:pPr algn="ctr">
                <a:lnSpc>
                  <a:spcPts val="3120"/>
                </a:lnSpc>
              </a:pPr>
            </a:p>
          </p:txBody>
        </p:sp>
      </p:grpSp>
      <p:grpSp>
        <p:nvGrpSpPr>
          <p:cNvPr name="Group 7" id="7"/>
          <p:cNvGrpSpPr/>
          <p:nvPr/>
        </p:nvGrpSpPr>
        <p:grpSpPr>
          <a:xfrm rot="0">
            <a:off x="701471" y="4486669"/>
            <a:ext cx="7825397" cy="1718085"/>
            <a:chOff x="0" y="0"/>
            <a:chExt cx="2049481" cy="449969"/>
          </a:xfrm>
        </p:grpSpPr>
        <p:sp>
          <p:nvSpPr>
            <p:cNvPr name="Freeform 8" id="8"/>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9" id="9"/>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grpSp>
        <p:nvGrpSpPr>
          <p:cNvPr name="Group 10" id="10"/>
          <p:cNvGrpSpPr/>
          <p:nvPr/>
        </p:nvGrpSpPr>
        <p:grpSpPr>
          <a:xfrm rot="0">
            <a:off x="12412326" y="3438226"/>
            <a:ext cx="2327285" cy="1871477"/>
            <a:chOff x="0" y="0"/>
            <a:chExt cx="522636" cy="420276"/>
          </a:xfrm>
        </p:grpSpPr>
        <p:sp>
          <p:nvSpPr>
            <p:cNvPr name="Freeform 11" id="11"/>
            <p:cNvSpPr/>
            <p:nvPr/>
          </p:nvSpPr>
          <p:spPr>
            <a:xfrm flipH="false" flipV="false" rot="0">
              <a:off x="0" y="0"/>
              <a:ext cx="522636" cy="420276"/>
            </a:xfrm>
            <a:custGeom>
              <a:avLst/>
              <a:gdLst/>
              <a:ahLst/>
              <a:cxnLst/>
              <a:rect r="r" b="b" t="t" l="l"/>
              <a:pathLst>
                <a:path h="420276" w="522636">
                  <a:moveTo>
                    <a:pt x="261318" y="0"/>
                  </a:moveTo>
                  <a:cubicBezTo>
                    <a:pt x="116996" y="0"/>
                    <a:pt x="0" y="94082"/>
                    <a:pt x="0" y="210138"/>
                  </a:cubicBezTo>
                  <a:cubicBezTo>
                    <a:pt x="0" y="326194"/>
                    <a:pt x="116996" y="420276"/>
                    <a:pt x="261318" y="420276"/>
                  </a:cubicBezTo>
                  <a:cubicBezTo>
                    <a:pt x="405640" y="420276"/>
                    <a:pt x="522636" y="326194"/>
                    <a:pt x="522636" y="210138"/>
                  </a:cubicBezTo>
                  <a:cubicBezTo>
                    <a:pt x="522636" y="94082"/>
                    <a:pt x="405640" y="0"/>
                    <a:pt x="261318" y="0"/>
                  </a:cubicBezTo>
                  <a:close/>
                </a:path>
              </a:pathLst>
            </a:custGeom>
            <a:solidFill>
              <a:srgbClr val="C6C4D7"/>
            </a:solidFill>
          </p:spPr>
        </p:sp>
        <p:sp>
          <p:nvSpPr>
            <p:cNvPr name="TextBox 12" id="12"/>
            <p:cNvSpPr txBox="true"/>
            <p:nvPr/>
          </p:nvSpPr>
          <p:spPr>
            <a:xfrm>
              <a:off x="48997" y="29876"/>
              <a:ext cx="424642" cy="350999"/>
            </a:xfrm>
            <a:prstGeom prst="rect">
              <a:avLst/>
            </a:prstGeom>
          </p:spPr>
          <p:txBody>
            <a:bodyPr anchor="ctr" rtlCol="false" tIns="50800" lIns="50800" bIns="50800" rIns="50800"/>
            <a:lstStyle/>
            <a:p>
              <a:pPr algn="ctr">
                <a:lnSpc>
                  <a:spcPts val="3120"/>
                </a:lnSpc>
              </a:pPr>
            </a:p>
          </p:txBody>
        </p:sp>
      </p:grpSp>
      <p:grpSp>
        <p:nvGrpSpPr>
          <p:cNvPr name="Group 13" id="13"/>
          <p:cNvGrpSpPr/>
          <p:nvPr/>
        </p:nvGrpSpPr>
        <p:grpSpPr>
          <a:xfrm rot="0">
            <a:off x="9747451" y="4483666"/>
            <a:ext cx="7839078" cy="1721089"/>
            <a:chOff x="0" y="0"/>
            <a:chExt cx="2049481" cy="449969"/>
          </a:xfrm>
        </p:grpSpPr>
        <p:sp>
          <p:nvSpPr>
            <p:cNvPr name="Freeform 14" id="14"/>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15" id="15"/>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grpSp>
        <p:nvGrpSpPr>
          <p:cNvPr name="Group 16" id="16"/>
          <p:cNvGrpSpPr/>
          <p:nvPr/>
        </p:nvGrpSpPr>
        <p:grpSpPr>
          <a:xfrm rot="0">
            <a:off x="3323352" y="6774210"/>
            <a:ext cx="2327285" cy="1705274"/>
            <a:chOff x="0" y="0"/>
            <a:chExt cx="522636" cy="382952"/>
          </a:xfrm>
        </p:grpSpPr>
        <p:sp>
          <p:nvSpPr>
            <p:cNvPr name="Freeform 17" id="17"/>
            <p:cNvSpPr/>
            <p:nvPr/>
          </p:nvSpPr>
          <p:spPr>
            <a:xfrm flipH="false" flipV="false" rot="0">
              <a:off x="0" y="0"/>
              <a:ext cx="522636" cy="382952"/>
            </a:xfrm>
            <a:custGeom>
              <a:avLst/>
              <a:gdLst/>
              <a:ahLst/>
              <a:cxnLst/>
              <a:rect r="r" b="b" t="t" l="l"/>
              <a:pathLst>
                <a:path h="382952" w="522636">
                  <a:moveTo>
                    <a:pt x="261318" y="0"/>
                  </a:moveTo>
                  <a:cubicBezTo>
                    <a:pt x="116996" y="0"/>
                    <a:pt x="0" y="85727"/>
                    <a:pt x="0" y="191476"/>
                  </a:cubicBezTo>
                  <a:cubicBezTo>
                    <a:pt x="0" y="297225"/>
                    <a:pt x="116996" y="382952"/>
                    <a:pt x="261318" y="382952"/>
                  </a:cubicBezTo>
                  <a:cubicBezTo>
                    <a:pt x="405640" y="382952"/>
                    <a:pt x="522636" y="297225"/>
                    <a:pt x="522636" y="191476"/>
                  </a:cubicBezTo>
                  <a:cubicBezTo>
                    <a:pt x="522636" y="85727"/>
                    <a:pt x="405640" y="0"/>
                    <a:pt x="261318" y="0"/>
                  </a:cubicBezTo>
                  <a:close/>
                </a:path>
              </a:pathLst>
            </a:custGeom>
            <a:solidFill>
              <a:srgbClr val="C6C4D7"/>
            </a:solidFill>
          </p:spPr>
        </p:sp>
        <p:sp>
          <p:nvSpPr>
            <p:cNvPr name="TextBox 18" id="18"/>
            <p:cNvSpPr txBox="true"/>
            <p:nvPr/>
          </p:nvSpPr>
          <p:spPr>
            <a:xfrm>
              <a:off x="48997" y="26377"/>
              <a:ext cx="424642" cy="320673"/>
            </a:xfrm>
            <a:prstGeom prst="rect">
              <a:avLst/>
            </a:prstGeom>
          </p:spPr>
          <p:txBody>
            <a:bodyPr anchor="ctr" rtlCol="false" tIns="50800" lIns="50800" bIns="50800" rIns="50800"/>
            <a:lstStyle/>
            <a:p>
              <a:pPr algn="ctr">
                <a:lnSpc>
                  <a:spcPts val="3120"/>
                </a:lnSpc>
              </a:pPr>
            </a:p>
          </p:txBody>
        </p:sp>
      </p:grpSp>
      <p:grpSp>
        <p:nvGrpSpPr>
          <p:cNvPr name="Group 19" id="19"/>
          <p:cNvGrpSpPr/>
          <p:nvPr/>
        </p:nvGrpSpPr>
        <p:grpSpPr>
          <a:xfrm rot="0">
            <a:off x="737429" y="7786644"/>
            <a:ext cx="7825397" cy="1718085"/>
            <a:chOff x="0" y="0"/>
            <a:chExt cx="2049481" cy="449969"/>
          </a:xfrm>
        </p:grpSpPr>
        <p:sp>
          <p:nvSpPr>
            <p:cNvPr name="Freeform 20" id="20"/>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21" id="21"/>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grpSp>
        <p:nvGrpSpPr>
          <p:cNvPr name="Group 22" id="22"/>
          <p:cNvGrpSpPr/>
          <p:nvPr/>
        </p:nvGrpSpPr>
        <p:grpSpPr>
          <a:xfrm rot="0">
            <a:off x="12412326" y="6774210"/>
            <a:ext cx="2327285" cy="1871477"/>
            <a:chOff x="0" y="0"/>
            <a:chExt cx="522636" cy="420276"/>
          </a:xfrm>
        </p:grpSpPr>
        <p:sp>
          <p:nvSpPr>
            <p:cNvPr name="Freeform 23" id="23"/>
            <p:cNvSpPr/>
            <p:nvPr/>
          </p:nvSpPr>
          <p:spPr>
            <a:xfrm flipH="false" flipV="false" rot="0">
              <a:off x="0" y="0"/>
              <a:ext cx="522636" cy="420276"/>
            </a:xfrm>
            <a:custGeom>
              <a:avLst/>
              <a:gdLst/>
              <a:ahLst/>
              <a:cxnLst/>
              <a:rect r="r" b="b" t="t" l="l"/>
              <a:pathLst>
                <a:path h="420276" w="522636">
                  <a:moveTo>
                    <a:pt x="261318" y="0"/>
                  </a:moveTo>
                  <a:cubicBezTo>
                    <a:pt x="116996" y="0"/>
                    <a:pt x="0" y="94082"/>
                    <a:pt x="0" y="210138"/>
                  </a:cubicBezTo>
                  <a:cubicBezTo>
                    <a:pt x="0" y="326194"/>
                    <a:pt x="116996" y="420276"/>
                    <a:pt x="261318" y="420276"/>
                  </a:cubicBezTo>
                  <a:cubicBezTo>
                    <a:pt x="405640" y="420276"/>
                    <a:pt x="522636" y="326194"/>
                    <a:pt x="522636" y="210138"/>
                  </a:cubicBezTo>
                  <a:cubicBezTo>
                    <a:pt x="522636" y="94082"/>
                    <a:pt x="405640" y="0"/>
                    <a:pt x="261318" y="0"/>
                  </a:cubicBezTo>
                  <a:close/>
                </a:path>
              </a:pathLst>
            </a:custGeom>
            <a:solidFill>
              <a:srgbClr val="C6C4D7"/>
            </a:solidFill>
          </p:spPr>
        </p:sp>
        <p:sp>
          <p:nvSpPr>
            <p:cNvPr name="TextBox 24" id="24"/>
            <p:cNvSpPr txBox="true"/>
            <p:nvPr/>
          </p:nvSpPr>
          <p:spPr>
            <a:xfrm>
              <a:off x="48997" y="29876"/>
              <a:ext cx="424642" cy="350999"/>
            </a:xfrm>
            <a:prstGeom prst="rect">
              <a:avLst/>
            </a:prstGeom>
          </p:spPr>
          <p:txBody>
            <a:bodyPr anchor="ctr" rtlCol="false" tIns="50800" lIns="50800" bIns="50800" rIns="50800"/>
            <a:lstStyle/>
            <a:p>
              <a:pPr algn="ctr">
                <a:lnSpc>
                  <a:spcPts val="3120"/>
                </a:lnSpc>
              </a:pPr>
            </a:p>
          </p:txBody>
        </p:sp>
      </p:grpSp>
      <p:grpSp>
        <p:nvGrpSpPr>
          <p:cNvPr name="Group 25" id="25"/>
          <p:cNvGrpSpPr/>
          <p:nvPr/>
        </p:nvGrpSpPr>
        <p:grpSpPr>
          <a:xfrm rot="0">
            <a:off x="9565409" y="7743673"/>
            <a:ext cx="8021120" cy="1761057"/>
            <a:chOff x="0" y="0"/>
            <a:chExt cx="2049481" cy="449969"/>
          </a:xfrm>
        </p:grpSpPr>
        <p:sp>
          <p:nvSpPr>
            <p:cNvPr name="Freeform 26" id="26"/>
            <p:cNvSpPr/>
            <p:nvPr/>
          </p:nvSpPr>
          <p:spPr>
            <a:xfrm flipH="false" flipV="false" rot="0">
              <a:off x="0" y="0"/>
              <a:ext cx="2049481" cy="449969"/>
            </a:xfrm>
            <a:custGeom>
              <a:avLst/>
              <a:gdLst/>
              <a:ahLst/>
              <a:cxnLst/>
              <a:rect r="r" b="b" t="t" l="l"/>
              <a:pathLst>
                <a:path h="449969" w="2049481">
                  <a:moveTo>
                    <a:pt x="1846281" y="0"/>
                  </a:moveTo>
                  <a:cubicBezTo>
                    <a:pt x="1958506" y="0"/>
                    <a:pt x="2049481" y="100729"/>
                    <a:pt x="2049481" y="224984"/>
                  </a:cubicBezTo>
                  <a:cubicBezTo>
                    <a:pt x="2049481" y="349240"/>
                    <a:pt x="1958506" y="449969"/>
                    <a:pt x="184628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27" id="27"/>
            <p:cNvSpPr txBox="true"/>
            <p:nvPr/>
          </p:nvSpPr>
          <p:spPr>
            <a:xfrm>
              <a:off x="0" y="19050"/>
              <a:ext cx="2049481" cy="430919"/>
            </a:xfrm>
            <a:prstGeom prst="rect">
              <a:avLst/>
            </a:prstGeom>
          </p:spPr>
          <p:txBody>
            <a:bodyPr anchor="ctr" rtlCol="false" tIns="50800" lIns="50800" bIns="50800" rIns="50800"/>
            <a:lstStyle/>
            <a:p>
              <a:pPr algn="ctr">
                <a:lnSpc>
                  <a:spcPts val="1942"/>
                </a:lnSpc>
              </a:pPr>
            </a:p>
          </p:txBody>
        </p:sp>
      </p:grpSp>
      <p:sp>
        <p:nvSpPr>
          <p:cNvPr name="TextBox 28" id="28"/>
          <p:cNvSpPr txBox="true"/>
          <p:nvPr/>
        </p:nvSpPr>
        <p:spPr>
          <a:xfrm rot="0">
            <a:off x="3177909" y="1340828"/>
            <a:ext cx="11932183"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Introduction</a:t>
            </a:r>
          </a:p>
        </p:txBody>
      </p:sp>
      <p:sp>
        <p:nvSpPr>
          <p:cNvPr name="TextBox 29" id="29"/>
          <p:cNvSpPr txBox="true"/>
          <p:nvPr/>
        </p:nvSpPr>
        <p:spPr>
          <a:xfrm rot="0">
            <a:off x="3417796" y="3926647"/>
            <a:ext cx="2392746" cy="390525"/>
          </a:xfrm>
          <a:prstGeom prst="rect">
            <a:avLst/>
          </a:prstGeom>
        </p:spPr>
        <p:txBody>
          <a:bodyPr anchor="t" rtlCol="false" tIns="0" lIns="0" bIns="0" rIns="0">
            <a:spAutoFit/>
          </a:bodyPr>
          <a:lstStyle/>
          <a:p>
            <a:pPr algn="ctr">
              <a:lnSpc>
                <a:spcPts val="3017"/>
              </a:lnSpc>
              <a:spcBef>
                <a:spcPct val="0"/>
              </a:spcBef>
            </a:pPr>
            <a:r>
              <a:rPr lang="en-US" b="true" sz="2514">
                <a:solidFill>
                  <a:srgbClr val="16123E"/>
                </a:solidFill>
                <a:latin typeface="Garet Bold"/>
                <a:ea typeface="Garet Bold"/>
                <a:cs typeface="Garet Bold"/>
                <a:sym typeface="Garet Bold"/>
              </a:rPr>
              <a:t>Study Focus</a:t>
            </a:r>
          </a:p>
        </p:txBody>
      </p:sp>
      <p:sp>
        <p:nvSpPr>
          <p:cNvPr name="TextBox 30" id="30"/>
          <p:cNvSpPr txBox="true"/>
          <p:nvPr/>
        </p:nvSpPr>
        <p:spPr>
          <a:xfrm rot="0">
            <a:off x="1399899" y="4713526"/>
            <a:ext cx="6530871"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Address the challenge of verifying ChatGPT-generated mathematical proofs.</a:t>
            </a:r>
          </a:p>
        </p:txBody>
      </p:sp>
      <p:sp>
        <p:nvSpPr>
          <p:cNvPr name="TextBox 31" id="31"/>
          <p:cNvSpPr txBox="true"/>
          <p:nvPr/>
        </p:nvSpPr>
        <p:spPr>
          <a:xfrm rot="0">
            <a:off x="12396601" y="3888616"/>
            <a:ext cx="2343011" cy="390525"/>
          </a:xfrm>
          <a:prstGeom prst="rect">
            <a:avLst/>
          </a:prstGeom>
        </p:spPr>
        <p:txBody>
          <a:bodyPr anchor="t" rtlCol="false" tIns="0" lIns="0" bIns="0" rIns="0">
            <a:spAutoFit/>
          </a:bodyPr>
          <a:lstStyle/>
          <a:p>
            <a:pPr algn="ctr">
              <a:lnSpc>
                <a:spcPts val="3017"/>
              </a:lnSpc>
              <a:spcBef>
                <a:spcPct val="0"/>
              </a:spcBef>
            </a:pPr>
            <a:r>
              <a:rPr lang="en-US" b="true" sz="2514">
                <a:solidFill>
                  <a:srgbClr val="16123E"/>
                </a:solidFill>
                <a:latin typeface="Garet Bold"/>
                <a:ea typeface="Garet Bold"/>
                <a:cs typeface="Garet Bold"/>
                <a:sym typeface="Garet Bold"/>
              </a:rPr>
              <a:t>Objective</a:t>
            </a:r>
          </a:p>
        </p:txBody>
      </p:sp>
      <p:sp>
        <p:nvSpPr>
          <p:cNvPr name="TextBox 32" id="32"/>
          <p:cNvSpPr txBox="true"/>
          <p:nvPr/>
        </p:nvSpPr>
        <p:spPr>
          <a:xfrm rot="0">
            <a:off x="10462634" y="4712024"/>
            <a:ext cx="6796666"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Create a system that verifies proofs generated by ChatGPT, verified through Agda.</a:t>
            </a:r>
          </a:p>
        </p:txBody>
      </p:sp>
      <p:sp>
        <p:nvSpPr>
          <p:cNvPr name="TextBox 33" id="33"/>
          <p:cNvSpPr txBox="true"/>
          <p:nvPr/>
        </p:nvSpPr>
        <p:spPr>
          <a:xfrm rot="0">
            <a:off x="3290621" y="7283777"/>
            <a:ext cx="2392746" cy="390525"/>
          </a:xfrm>
          <a:prstGeom prst="rect">
            <a:avLst/>
          </a:prstGeom>
        </p:spPr>
        <p:txBody>
          <a:bodyPr anchor="t" rtlCol="false" tIns="0" lIns="0" bIns="0" rIns="0">
            <a:spAutoFit/>
          </a:bodyPr>
          <a:lstStyle/>
          <a:p>
            <a:pPr algn="ctr">
              <a:lnSpc>
                <a:spcPts val="3017"/>
              </a:lnSpc>
              <a:spcBef>
                <a:spcPct val="0"/>
              </a:spcBef>
            </a:pPr>
            <a:r>
              <a:rPr lang="en-US" b="true" sz="2514">
                <a:solidFill>
                  <a:srgbClr val="16123E"/>
                </a:solidFill>
                <a:latin typeface="Garet Bold"/>
                <a:ea typeface="Garet Bold"/>
                <a:cs typeface="Garet Bold"/>
                <a:sym typeface="Garet Bold"/>
              </a:rPr>
              <a:t>Methodology</a:t>
            </a:r>
          </a:p>
        </p:txBody>
      </p:sp>
      <p:sp>
        <p:nvSpPr>
          <p:cNvPr name="TextBox 34" id="34"/>
          <p:cNvSpPr txBox="true"/>
          <p:nvPr/>
        </p:nvSpPr>
        <p:spPr>
          <a:xfrm rot="0">
            <a:off x="1435858" y="8013501"/>
            <a:ext cx="6530871"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Utilizes ChatGPT’s API and Agda’s verification based on Intuitionistic and Homotopy Type Theories.</a:t>
            </a:r>
          </a:p>
        </p:txBody>
      </p:sp>
      <p:sp>
        <p:nvSpPr>
          <p:cNvPr name="TextBox 35" id="35"/>
          <p:cNvSpPr txBox="true"/>
          <p:nvPr/>
        </p:nvSpPr>
        <p:spPr>
          <a:xfrm rot="0">
            <a:off x="12371733" y="7210737"/>
            <a:ext cx="2392746" cy="402247"/>
          </a:xfrm>
          <a:prstGeom prst="rect">
            <a:avLst/>
          </a:prstGeom>
        </p:spPr>
        <p:txBody>
          <a:bodyPr anchor="t" rtlCol="false" tIns="0" lIns="0" bIns="0" rIns="0">
            <a:spAutoFit/>
          </a:bodyPr>
          <a:lstStyle/>
          <a:p>
            <a:pPr algn="ctr">
              <a:lnSpc>
                <a:spcPts val="3137"/>
              </a:lnSpc>
              <a:spcBef>
                <a:spcPct val="0"/>
              </a:spcBef>
            </a:pPr>
            <a:r>
              <a:rPr lang="en-US" b="true" sz="2614">
                <a:solidFill>
                  <a:srgbClr val="16123E"/>
                </a:solidFill>
                <a:latin typeface="Garet Bold"/>
                <a:ea typeface="Garet Bold"/>
                <a:cs typeface="Garet Bold"/>
                <a:sym typeface="Garet Bold"/>
              </a:rPr>
              <a:t>Outcome</a:t>
            </a:r>
          </a:p>
        </p:txBody>
      </p:sp>
      <p:sp>
        <p:nvSpPr>
          <p:cNvPr name="TextBox 36" id="36"/>
          <p:cNvSpPr txBox="true"/>
          <p:nvPr/>
        </p:nvSpPr>
        <p:spPr>
          <a:xfrm rot="0">
            <a:off x="10216557" y="7992015"/>
            <a:ext cx="6914547" cy="1264372"/>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A system that reliably verifies ChatGPT-generated mathematical proofs.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1438348" y="4022576"/>
            <a:ext cx="1111991" cy="11119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448C"/>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438348" y="7139764"/>
            <a:ext cx="1111991" cy="111199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448C"/>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438348" y="5581170"/>
            <a:ext cx="1111991" cy="111199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9448C"/>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12306251" y="3865184"/>
            <a:ext cx="4183692" cy="4386571"/>
          </a:xfrm>
          <a:custGeom>
            <a:avLst/>
            <a:gdLst/>
            <a:ahLst/>
            <a:cxnLst/>
            <a:rect r="r" b="b" t="t" l="l"/>
            <a:pathLst>
              <a:path h="4386571" w="4183692">
                <a:moveTo>
                  <a:pt x="0" y="0"/>
                </a:moveTo>
                <a:lnTo>
                  <a:pt x="4183692" y="0"/>
                </a:lnTo>
                <a:lnTo>
                  <a:pt x="4183692" y="4386571"/>
                </a:lnTo>
                <a:lnTo>
                  <a:pt x="0" y="43865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3177909" y="1340828"/>
            <a:ext cx="11932183"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Technologies and Theories </a:t>
            </a:r>
          </a:p>
        </p:txBody>
      </p:sp>
      <p:sp>
        <p:nvSpPr>
          <p:cNvPr name="TextBox 15" id="15"/>
          <p:cNvSpPr txBox="true"/>
          <p:nvPr/>
        </p:nvSpPr>
        <p:spPr>
          <a:xfrm rot="0">
            <a:off x="1611522" y="4379860"/>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01</a:t>
            </a:r>
          </a:p>
        </p:txBody>
      </p:sp>
      <p:sp>
        <p:nvSpPr>
          <p:cNvPr name="TextBox 16" id="16"/>
          <p:cNvSpPr txBox="true"/>
          <p:nvPr/>
        </p:nvSpPr>
        <p:spPr>
          <a:xfrm rot="0">
            <a:off x="2810106" y="4092797"/>
            <a:ext cx="5637218" cy="971550"/>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Intuitionistic and Homotopy Type Theories</a:t>
            </a:r>
          </a:p>
        </p:txBody>
      </p:sp>
      <p:sp>
        <p:nvSpPr>
          <p:cNvPr name="TextBox 17" id="17"/>
          <p:cNvSpPr txBox="true"/>
          <p:nvPr/>
        </p:nvSpPr>
        <p:spPr>
          <a:xfrm rot="0">
            <a:off x="1611522" y="7497047"/>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03</a:t>
            </a:r>
          </a:p>
        </p:txBody>
      </p:sp>
      <p:sp>
        <p:nvSpPr>
          <p:cNvPr name="TextBox 18" id="18"/>
          <p:cNvSpPr txBox="true"/>
          <p:nvPr/>
        </p:nvSpPr>
        <p:spPr>
          <a:xfrm rot="0">
            <a:off x="1611522" y="5938454"/>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02</a:t>
            </a:r>
          </a:p>
        </p:txBody>
      </p:sp>
      <p:sp>
        <p:nvSpPr>
          <p:cNvPr name="TextBox 19" id="19"/>
          <p:cNvSpPr txBox="true"/>
          <p:nvPr/>
        </p:nvSpPr>
        <p:spPr>
          <a:xfrm rot="0">
            <a:off x="2810106" y="7452872"/>
            <a:ext cx="5318252" cy="485775"/>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ChatGPT</a:t>
            </a:r>
          </a:p>
        </p:txBody>
      </p:sp>
      <p:sp>
        <p:nvSpPr>
          <p:cNvPr name="TextBox 20" id="20"/>
          <p:cNvSpPr txBox="true"/>
          <p:nvPr/>
        </p:nvSpPr>
        <p:spPr>
          <a:xfrm rot="0">
            <a:off x="2810106" y="5894278"/>
            <a:ext cx="5318252" cy="485775"/>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Agda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253746" y="708493"/>
            <a:ext cx="12752866" cy="1935813"/>
            <a:chOff x="0" y="0"/>
            <a:chExt cx="12608440" cy="1913890"/>
          </a:xfrm>
        </p:grpSpPr>
        <p:sp>
          <p:nvSpPr>
            <p:cNvPr name="Freeform 3" id="3"/>
            <p:cNvSpPr/>
            <p:nvPr/>
          </p:nvSpPr>
          <p:spPr>
            <a:xfrm flipH="false" flipV="false" rot="0">
              <a:off x="0" y="0"/>
              <a:ext cx="12608440" cy="1913890"/>
            </a:xfrm>
            <a:custGeom>
              <a:avLst/>
              <a:gdLst/>
              <a:ahLst/>
              <a:cxnLst/>
              <a:rect r="r" b="b" t="t" l="l"/>
              <a:pathLst>
                <a:path h="1913890" w="12608440">
                  <a:moveTo>
                    <a:pt x="12608440" y="956945"/>
                  </a:moveTo>
                  <a:cubicBezTo>
                    <a:pt x="12608440" y="1485392"/>
                    <a:pt x="12180069" y="1913890"/>
                    <a:pt x="11651495" y="1913890"/>
                  </a:cubicBezTo>
                  <a:lnTo>
                    <a:pt x="956945" y="1913890"/>
                  </a:lnTo>
                  <a:cubicBezTo>
                    <a:pt x="428371" y="1913890"/>
                    <a:pt x="0" y="1485392"/>
                    <a:pt x="0" y="956945"/>
                  </a:cubicBezTo>
                  <a:cubicBezTo>
                    <a:pt x="0" y="428371"/>
                    <a:pt x="428371" y="0"/>
                    <a:pt x="956945" y="0"/>
                  </a:cubicBezTo>
                  <a:lnTo>
                    <a:pt x="11651495" y="0"/>
                  </a:lnTo>
                  <a:cubicBezTo>
                    <a:pt x="12179942" y="0"/>
                    <a:pt x="12608440" y="428371"/>
                    <a:pt x="12608440" y="956945"/>
                  </a:cubicBezTo>
                  <a:close/>
                </a:path>
              </a:pathLst>
            </a:custGeom>
            <a:solidFill>
              <a:srgbClr val="2B2664"/>
            </a:solidFill>
          </p:spPr>
        </p:sp>
      </p:grpSp>
      <p:grpSp>
        <p:nvGrpSpPr>
          <p:cNvPr name="Group 4" id="4"/>
          <p:cNvGrpSpPr>
            <a:grpSpLocks noChangeAspect="true"/>
          </p:cNvGrpSpPr>
          <p:nvPr/>
        </p:nvGrpSpPr>
        <p:grpSpPr>
          <a:xfrm rot="0">
            <a:off x="16512534" y="-1775466"/>
            <a:ext cx="3550932" cy="3550932"/>
            <a:chOff x="0" y="0"/>
            <a:chExt cx="6355080" cy="6355080"/>
          </a:xfrm>
        </p:grpSpPr>
        <p:sp>
          <p:nvSpPr>
            <p:cNvPr name="Freeform 5" id="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A2664"/>
            </a:solidFill>
          </p:spPr>
        </p:sp>
      </p:grpSp>
      <p:grpSp>
        <p:nvGrpSpPr>
          <p:cNvPr name="Group 6" id="6"/>
          <p:cNvGrpSpPr/>
          <p:nvPr/>
        </p:nvGrpSpPr>
        <p:grpSpPr>
          <a:xfrm rot="0">
            <a:off x="17525384" y="-762616"/>
            <a:ext cx="1525232" cy="1525232"/>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Freeform 8" id="8"/>
          <p:cNvSpPr/>
          <p:nvPr/>
        </p:nvSpPr>
        <p:spPr>
          <a:xfrm flipH="false" flipV="false" rot="0">
            <a:off x="13706923" y="4347646"/>
            <a:ext cx="4201775" cy="3598247"/>
          </a:xfrm>
          <a:custGeom>
            <a:avLst/>
            <a:gdLst/>
            <a:ahLst/>
            <a:cxnLst/>
            <a:rect r="r" b="b" t="t" l="l"/>
            <a:pathLst>
              <a:path h="3598247" w="4201775">
                <a:moveTo>
                  <a:pt x="0" y="0"/>
                </a:moveTo>
                <a:lnTo>
                  <a:pt x="4201775" y="0"/>
                </a:lnTo>
                <a:lnTo>
                  <a:pt x="4201775" y="3598247"/>
                </a:lnTo>
                <a:lnTo>
                  <a:pt x="0" y="359824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107107" y="3643213"/>
            <a:ext cx="12411163" cy="4998688"/>
          </a:xfrm>
          <a:prstGeom prst="rect">
            <a:avLst/>
          </a:prstGeom>
        </p:spPr>
        <p:txBody>
          <a:bodyPr anchor="t" rtlCol="false" tIns="0" lIns="0" bIns="0" rIns="0">
            <a:spAutoFit/>
          </a:bodyPr>
          <a:lstStyle/>
          <a:p>
            <a:pPr algn="l">
              <a:lnSpc>
                <a:spcPts val="4972"/>
              </a:lnSpc>
            </a:pPr>
            <a:r>
              <a:rPr lang="en-US" sz="3314">
                <a:solidFill>
                  <a:srgbClr val="16123E"/>
                </a:solidFill>
                <a:latin typeface="Garet"/>
                <a:ea typeface="Garet"/>
                <a:cs typeface="Garet"/>
                <a:sym typeface="Garet"/>
              </a:rPr>
              <a:t>Intuitionistic Type Theory:</a:t>
            </a:r>
          </a:p>
          <a:p>
            <a:pPr algn="l" marL="1431307" indent="-477102" lvl="2">
              <a:lnSpc>
                <a:spcPts val="4972"/>
              </a:lnSpc>
              <a:buFont typeface="Arial"/>
              <a:buChar char="⚬"/>
            </a:pPr>
            <a:r>
              <a:rPr lang="en-US" sz="3314">
                <a:solidFill>
                  <a:srgbClr val="16123E"/>
                </a:solidFill>
                <a:latin typeface="Garet"/>
                <a:ea typeface="Garet"/>
                <a:cs typeface="Garet"/>
                <a:sym typeface="Garet"/>
              </a:rPr>
              <a:t>Treats proofs as algorithms — proving something means constructing it step by step.</a:t>
            </a:r>
          </a:p>
          <a:p>
            <a:pPr algn="l">
              <a:lnSpc>
                <a:spcPts val="4972"/>
              </a:lnSpc>
            </a:pPr>
          </a:p>
          <a:p>
            <a:pPr algn="l">
              <a:lnSpc>
                <a:spcPts val="4972"/>
              </a:lnSpc>
            </a:pPr>
            <a:r>
              <a:rPr lang="en-US" sz="3314">
                <a:solidFill>
                  <a:srgbClr val="16123E"/>
                </a:solidFill>
                <a:latin typeface="Garet"/>
                <a:ea typeface="Garet"/>
                <a:cs typeface="Garet"/>
                <a:sym typeface="Garet"/>
              </a:rPr>
              <a:t>Homotopy Type Theory:</a:t>
            </a:r>
          </a:p>
          <a:p>
            <a:pPr algn="l" marL="1431307" indent="-477102" lvl="2">
              <a:lnSpc>
                <a:spcPts val="4972"/>
              </a:lnSpc>
              <a:buFont typeface="Arial"/>
              <a:buChar char="⚬"/>
            </a:pPr>
            <a:r>
              <a:rPr lang="en-US" sz="3314">
                <a:solidFill>
                  <a:srgbClr val="16123E"/>
                </a:solidFill>
                <a:latin typeface="Garet"/>
                <a:ea typeface="Garet"/>
                <a:cs typeface="Garet"/>
                <a:sym typeface="Garet"/>
              </a:rPr>
              <a:t>Simplifies handling complex structures using the Univalence Axiom, treating equivalent objects as identical.</a:t>
            </a:r>
          </a:p>
        </p:txBody>
      </p:sp>
      <p:sp>
        <p:nvSpPr>
          <p:cNvPr name="Freeform 10" id="10"/>
          <p:cNvSpPr/>
          <p:nvPr/>
        </p:nvSpPr>
        <p:spPr>
          <a:xfrm flipH="false" flipV="false" rot="0">
            <a:off x="428087" y="3651638"/>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325385" y="942975"/>
            <a:ext cx="11624437" cy="1571625"/>
          </a:xfrm>
          <a:prstGeom prst="rect">
            <a:avLst/>
          </a:prstGeom>
        </p:spPr>
        <p:txBody>
          <a:bodyPr anchor="t" rtlCol="false" tIns="0" lIns="0" bIns="0" rIns="0">
            <a:spAutoFit/>
          </a:bodyPr>
          <a:lstStyle/>
          <a:p>
            <a:pPr algn="ctr">
              <a:lnSpc>
                <a:spcPts val="6000"/>
              </a:lnSpc>
            </a:pPr>
            <a:r>
              <a:rPr lang="en-US" b="true" sz="6000">
                <a:solidFill>
                  <a:srgbClr val="FBFDF4"/>
                </a:solidFill>
                <a:latin typeface="League Spartan"/>
                <a:ea typeface="League Spartan"/>
                <a:cs typeface="League Spartan"/>
                <a:sym typeface="League Spartan"/>
              </a:rPr>
              <a:t>Intuitionistic and Homotopy Type Theories</a:t>
            </a:r>
          </a:p>
        </p:txBody>
      </p:sp>
      <p:sp>
        <p:nvSpPr>
          <p:cNvPr name="Freeform 12" id="12"/>
          <p:cNvSpPr/>
          <p:nvPr/>
        </p:nvSpPr>
        <p:spPr>
          <a:xfrm flipH="false" flipV="false" rot="0">
            <a:off x="428087" y="6190181"/>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053721" y="708493"/>
            <a:ext cx="5988023" cy="1935813"/>
            <a:chOff x="0" y="0"/>
            <a:chExt cx="5920208" cy="1913890"/>
          </a:xfrm>
        </p:grpSpPr>
        <p:sp>
          <p:nvSpPr>
            <p:cNvPr name="Freeform 3" id="3"/>
            <p:cNvSpPr/>
            <p:nvPr/>
          </p:nvSpPr>
          <p:spPr>
            <a:xfrm flipH="false" flipV="false" rot="0">
              <a:off x="0" y="0"/>
              <a:ext cx="5920208" cy="1913890"/>
            </a:xfrm>
            <a:custGeom>
              <a:avLst/>
              <a:gdLst/>
              <a:ahLst/>
              <a:cxnLst/>
              <a:rect r="r" b="b" t="t" l="l"/>
              <a:pathLst>
                <a:path h="1913890" w="5920208">
                  <a:moveTo>
                    <a:pt x="5920208" y="956945"/>
                  </a:moveTo>
                  <a:cubicBezTo>
                    <a:pt x="5920208" y="1485392"/>
                    <a:pt x="5491837" y="1913890"/>
                    <a:pt x="4963263" y="1913890"/>
                  </a:cubicBezTo>
                  <a:lnTo>
                    <a:pt x="956945" y="1913890"/>
                  </a:lnTo>
                  <a:cubicBezTo>
                    <a:pt x="428371" y="1913890"/>
                    <a:pt x="0" y="1485392"/>
                    <a:pt x="0" y="956945"/>
                  </a:cubicBezTo>
                  <a:cubicBezTo>
                    <a:pt x="0" y="428371"/>
                    <a:pt x="428371" y="0"/>
                    <a:pt x="956945" y="0"/>
                  </a:cubicBezTo>
                  <a:lnTo>
                    <a:pt x="4963263" y="0"/>
                  </a:lnTo>
                  <a:cubicBezTo>
                    <a:pt x="5491711" y="0"/>
                    <a:pt x="5920208" y="428371"/>
                    <a:pt x="5920208" y="956945"/>
                  </a:cubicBezTo>
                  <a:close/>
                </a:path>
              </a:pathLst>
            </a:custGeom>
            <a:solidFill>
              <a:srgbClr val="2B2664"/>
            </a:solidFill>
          </p:spPr>
        </p:sp>
      </p:grpSp>
      <p:sp>
        <p:nvSpPr>
          <p:cNvPr name="Freeform 4" id="4"/>
          <p:cNvSpPr/>
          <p:nvPr/>
        </p:nvSpPr>
        <p:spPr>
          <a:xfrm flipH="false" flipV="false" rot="0">
            <a:off x="11303841" y="564721"/>
            <a:ext cx="6788880" cy="2223358"/>
          </a:xfrm>
          <a:custGeom>
            <a:avLst/>
            <a:gdLst/>
            <a:ahLst/>
            <a:cxnLst/>
            <a:rect r="r" b="b" t="t" l="l"/>
            <a:pathLst>
              <a:path h="2223358" w="6788880">
                <a:moveTo>
                  <a:pt x="0" y="0"/>
                </a:moveTo>
                <a:lnTo>
                  <a:pt x="6788881" y="0"/>
                </a:lnTo>
                <a:lnTo>
                  <a:pt x="6788881" y="2223358"/>
                </a:lnTo>
                <a:lnTo>
                  <a:pt x="0" y="2223358"/>
                </a:lnTo>
                <a:lnTo>
                  <a:pt x="0" y="0"/>
                </a:lnTo>
                <a:close/>
              </a:path>
            </a:pathLst>
          </a:custGeom>
          <a:blipFill>
            <a:blip r:embed="rId3"/>
            <a:stretch>
              <a:fillRect l="0" t="0" r="0" b="0"/>
            </a:stretch>
          </a:blipFill>
        </p:spPr>
      </p:sp>
      <p:grpSp>
        <p:nvGrpSpPr>
          <p:cNvPr name="Group 5" id="5"/>
          <p:cNvGrpSpPr/>
          <p:nvPr/>
        </p:nvGrpSpPr>
        <p:grpSpPr>
          <a:xfrm rot="0">
            <a:off x="12872258" y="4203252"/>
            <a:ext cx="4907972" cy="1306157"/>
            <a:chOff x="0" y="0"/>
            <a:chExt cx="1292635" cy="344009"/>
          </a:xfrm>
        </p:grpSpPr>
        <p:sp>
          <p:nvSpPr>
            <p:cNvPr name="Freeform 6" id="6"/>
            <p:cNvSpPr/>
            <p:nvPr/>
          </p:nvSpPr>
          <p:spPr>
            <a:xfrm flipH="false" flipV="false" rot="0">
              <a:off x="0" y="0"/>
              <a:ext cx="1292635" cy="344009"/>
            </a:xfrm>
            <a:custGeom>
              <a:avLst/>
              <a:gdLst/>
              <a:ahLst/>
              <a:cxnLst/>
              <a:rect r="r" b="b" t="t" l="l"/>
              <a:pathLst>
                <a:path h="344009" w="1292635">
                  <a:moveTo>
                    <a:pt x="80448" y="0"/>
                  </a:moveTo>
                  <a:lnTo>
                    <a:pt x="1212186" y="0"/>
                  </a:lnTo>
                  <a:cubicBezTo>
                    <a:pt x="1233523" y="0"/>
                    <a:pt x="1253985" y="8476"/>
                    <a:pt x="1269072" y="23563"/>
                  </a:cubicBezTo>
                  <a:cubicBezTo>
                    <a:pt x="1284159" y="38650"/>
                    <a:pt x="1292635" y="59112"/>
                    <a:pt x="1292635" y="80448"/>
                  </a:cubicBezTo>
                  <a:lnTo>
                    <a:pt x="1292635" y="263560"/>
                  </a:lnTo>
                  <a:cubicBezTo>
                    <a:pt x="1292635" y="284896"/>
                    <a:pt x="1284159" y="305359"/>
                    <a:pt x="1269072" y="320446"/>
                  </a:cubicBezTo>
                  <a:cubicBezTo>
                    <a:pt x="1253985" y="335533"/>
                    <a:pt x="1233523" y="344009"/>
                    <a:pt x="1212186" y="344009"/>
                  </a:cubicBezTo>
                  <a:lnTo>
                    <a:pt x="80448" y="344009"/>
                  </a:lnTo>
                  <a:cubicBezTo>
                    <a:pt x="59112" y="344009"/>
                    <a:pt x="38650" y="335533"/>
                    <a:pt x="23563" y="320446"/>
                  </a:cubicBezTo>
                  <a:cubicBezTo>
                    <a:pt x="8476" y="305359"/>
                    <a:pt x="0" y="284896"/>
                    <a:pt x="0" y="263560"/>
                  </a:cubicBezTo>
                  <a:lnTo>
                    <a:pt x="0" y="80448"/>
                  </a:lnTo>
                  <a:cubicBezTo>
                    <a:pt x="0" y="59112"/>
                    <a:pt x="8476" y="38650"/>
                    <a:pt x="23563" y="23563"/>
                  </a:cubicBezTo>
                  <a:cubicBezTo>
                    <a:pt x="38650" y="8476"/>
                    <a:pt x="59112" y="0"/>
                    <a:pt x="80448" y="0"/>
                  </a:cubicBezTo>
                  <a:close/>
                </a:path>
              </a:pathLst>
            </a:custGeom>
            <a:solidFill>
              <a:srgbClr val="000000">
                <a:alpha val="0"/>
              </a:srgbClr>
            </a:solidFill>
            <a:ln w="28575" cap="rnd">
              <a:solidFill>
                <a:srgbClr val="043122"/>
              </a:solidFill>
              <a:prstDash val="solid"/>
              <a:round/>
            </a:ln>
          </p:spPr>
        </p:sp>
        <p:sp>
          <p:nvSpPr>
            <p:cNvPr name="TextBox 7" id="7"/>
            <p:cNvSpPr txBox="true"/>
            <p:nvPr/>
          </p:nvSpPr>
          <p:spPr>
            <a:xfrm>
              <a:off x="0" y="-38100"/>
              <a:ext cx="1292635" cy="382109"/>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909395" y="3035092"/>
            <a:ext cx="11668750" cy="5876781"/>
          </a:xfrm>
          <a:prstGeom prst="rect">
            <a:avLst/>
          </a:prstGeom>
        </p:spPr>
        <p:txBody>
          <a:bodyPr anchor="t" rtlCol="false" tIns="0" lIns="0" bIns="0" rIns="0">
            <a:spAutoFit/>
          </a:bodyPr>
          <a:lstStyle/>
          <a:p>
            <a:pPr algn="l">
              <a:lnSpc>
                <a:spcPts val="5232"/>
              </a:lnSpc>
            </a:pPr>
            <a:r>
              <a:rPr lang="en-US" sz="3488">
                <a:solidFill>
                  <a:srgbClr val="16123E"/>
                </a:solidFill>
                <a:latin typeface="Garet"/>
                <a:ea typeface="Garet"/>
                <a:cs typeface="Garet"/>
                <a:sym typeface="Garet"/>
              </a:rPr>
              <a:t>What is Agda?</a:t>
            </a:r>
          </a:p>
          <a:p>
            <a:pPr algn="l" marL="1506191" indent="-502064" lvl="2">
              <a:lnSpc>
                <a:spcPts val="5232"/>
              </a:lnSpc>
              <a:buFont typeface="Arial"/>
              <a:buChar char="⚬"/>
            </a:pPr>
            <a:r>
              <a:rPr lang="en-US" sz="3488">
                <a:solidFill>
                  <a:srgbClr val="16123E"/>
                </a:solidFill>
                <a:latin typeface="Garet"/>
                <a:ea typeface="Garet"/>
                <a:cs typeface="Garet"/>
                <a:sym typeface="Garet"/>
              </a:rPr>
              <a:t>A dependently typed functional programming language.</a:t>
            </a:r>
          </a:p>
          <a:p>
            <a:pPr algn="l" marL="1506191" indent="-502064" lvl="2">
              <a:lnSpc>
                <a:spcPts val="5232"/>
              </a:lnSpc>
              <a:buFont typeface="Arial"/>
              <a:buChar char="⚬"/>
            </a:pPr>
            <a:r>
              <a:rPr lang="en-US" sz="3488">
                <a:solidFill>
                  <a:srgbClr val="16123E"/>
                </a:solidFill>
                <a:latin typeface="Garet"/>
                <a:ea typeface="Garet"/>
                <a:cs typeface="Garet"/>
                <a:sym typeface="Garet"/>
              </a:rPr>
              <a:t>Used for writing and verifying formal proofs.</a:t>
            </a:r>
          </a:p>
          <a:p>
            <a:pPr algn="l">
              <a:lnSpc>
                <a:spcPts val="5232"/>
              </a:lnSpc>
            </a:pPr>
          </a:p>
          <a:p>
            <a:pPr algn="l">
              <a:lnSpc>
                <a:spcPts val="5232"/>
              </a:lnSpc>
            </a:pPr>
            <a:r>
              <a:rPr lang="en-US" sz="3488">
                <a:solidFill>
                  <a:srgbClr val="16123E"/>
                </a:solidFill>
                <a:latin typeface="Garet"/>
                <a:ea typeface="Garet"/>
                <a:cs typeface="Garet"/>
                <a:sym typeface="Garet"/>
              </a:rPr>
              <a:t>Why Agda?</a:t>
            </a:r>
          </a:p>
          <a:p>
            <a:pPr algn="l" marL="1506191" indent="-502064" lvl="2">
              <a:lnSpc>
                <a:spcPts val="5232"/>
              </a:lnSpc>
              <a:buFont typeface="Arial"/>
              <a:buChar char="⚬"/>
            </a:pPr>
            <a:r>
              <a:rPr lang="en-US" sz="3488">
                <a:solidFill>
                  <a:srgbClr val="16123E"/>
                </a:solidFill>
                <a:latin typeface="Garet"/>
                <a:ea typeface="Garet"/>
                <a:cs typeface="Garet"/>
                <a:sym typeface="Garet"/>
              </a:rPr>
              <a:t>Treats proofs as algorithms.</a:t>
            </a:r>
          </a:p>
          <a:p>
            <a:pPr algn="l" marL="1506191" indent="-502064" lvl="2">
              <a:lnSpc>
                <a:spcPts val="5232"/>
              </a:lnSpc>
              <a:buFont typeface="Arial"/>
              <a:buChar char="⚬"/>
            </a:pPr>
            <a:r>
              <a:rPr lang="en-US" sz="3488">
                <a:solidFill>
                  <a:srgbClr val="16123E"/>
                </a:solidFill>
                <a:latin typeface="Garet"/>
                <a:ea typeface="Garet"/>
                <a:cs typeface="Garet"/>
                <a:sym typeface="Garet"/>
              </a:rPr>
              <a:t>Allows complex mathematical structures with precise verification.</a:t>
            </a:r>
          </a:p>
        </p:txBody>
      </p:sp>
      <p:grpSp>
        <p:nvGrpSpPr>
          <p:cNvPr name="Group 9" id="9"/>
          <p:cNvGrpSpPr/>
          <p:nvPr/>
        </p:nvGrpSpPr>
        <p:grpSpPr>
          <a:xfrm rot="0">
            <a:off x="12872258" y="6021107"/>
            <a:ext cx="4907972" cy="1306157"/>
            <a:chOff x="0" y="0"/>
            <a:chExt cx="1292635" cy="344009"/>
          </a:xfrm>
        </p:grpSpPr>
        <p:sp>
          <p:nvSpPr>
            <p:cNvPr name="Freeform 10" id="10"/>
            <p:cNvSpPr/>
            <p:nvPr/>
          </p:nvSpPr>
          <p:spPr>
            <a:xfrm flipH="false" flipV="false" rot="0">
              <a:off x="0" y="0"/>
              <a:ext cx="1292635" cy="344009"/>
            </a:xfrm>
            <a:custGeom>
              <a:avLst/>
              <a:gdLst/>
              <a:ahLst/>
              <a:cxnLst/>
              <a:rect r="r" b="b" t="t" l="l"/>
              <a:pathLst>
                <a:path h="344009" w="1292635">
                  <a:moveTo>
                    <a:pt x="80448" y="0"/>
                  </a:moveTo>
                  <a:lnTo>
                    <a:pt x="1212186" y="0"/>
                  </a:lnTo>
                  <a:cubicBezTo>
                    <a:pt x="1233523" y="0"/>
                    <a:pt x="1253985" y="8476"/>
                    <a:pt x="1269072" y="23563"/>
                  </a:cubicBezTo>
                  <a:cubicBezTo>
                    <a:pt x="1284159" y="38650"/>
                    <a:pt x="1292635" y="59112"/>
                    <a:pt x="1292635" y="80448"/>
                  </a:cubicBezTo>
                  <a:lnTo>
                    <a:pt x="1292635" y="263560"/>
                  </a:lnTo>
                  <a:cubicBezTo>
                    <a:pt x="1292635" y="284896"/>
                    <a:pt x="1284159" y="305359"/>
                    <a:pt x="1269072" y="320446"/>
                  </a:cubicBezTo>
                  <a:cubicBezTo>
                    <a:pt x="1253985" y="335533"/>
                    <a:pt x="1233523" y="344009"/>
                    <a:pt x="1212186" y="344009"/>
                  </a:cubicBezTo>
                  <a:lnTo>
                    <a:pt x="80448" y="344009"/>
                  </a:lnTo>
                  <a:cubicBezTo>
                    <a:pt x="59112" y="344009"/>
                    <a:pt x="38650" y="335533"/>
                    <a:pt x="23563" y="320446"/>
                  </a:cubicBezTo>
                  <a:cubicBezTo>
                    <a:pt x="8476" y="305359"/>
                    <a:pt x="0" y="284896"/>
                    <a:pt x="0" y="263560"/>
                  </a:cubicBezTo>
                  <a:lnTo>
                    <a:pt x="0" y="80448"/>
                  </a:lnTo>
                  <a:cubicBezTo>
                    <a:pt x="0" y="59112"/>
                    <a:pt x="8476" y="38650"/>
                    <a:pt x="23563" y="23563"/>
                  </a:cubicBezTo>
                  <a:cubicBezTo>
                    <a:pt x="38650" y="8476"/>
                    <a:pt x="59112" y="0"/>
                    <a:pt x="80448" y="0"/>
                  </a:cubicBezTo>
                  <a:close/>
                </a:path>
              </a:pathLst>
            </a:custGeom>
            <a:solidFill>
              <a:srgbClr val="000000">
                <a:alpha val="0"/>
              </a:srgbClr>
            </a:solidFill>
            <a:ln w="28575" cap="rnd">
              <a:solidFill>
                <a:srgbClr val="16123E"/>
              </a:solidFill>
              <a:prstDash val="solid"/>
              <a:round/>
            </a:ln>
          </p:spPr>
        </p:sp>
        <p:sp>
          <p:nvSpPr>
            <p:cNvPr name="TextBox 11" id="11"/>
            <p:cNvSpPr txBox="true"/>
            <p:nvPr/>
          </p:nvSpPr>
          <p:spPr>
            <a:xfrm>
              <a:off x="0" y="-38100"/>
              <a:ext cx="1292635" cy="382109"/>
            </a:xfrm>
            <a:prstGeom prst="rect">
              <a:avLst/>
            </a:prstGeom>
          </p:spPr>
          <p:txBody>
            <a:bodyPr anchor="ctr" rtlCol="false" tIns="50800" lIns="50800" bIns="50800" rIns="50800"/>
            <a:lstStyle/>
            <a:p>
              <a:pPr algn="ctr">
                <a:lnSpc>
                  <a:spcPts val="2659"/>
                </a:lnSpc>
              </a:pPr>
            </a:p>
          </p:txBody>
        </p:sp>
      </p:grpSp>
      <p:grpSp>
        <p:nvGrpSpPr>
          <p:cNvPr name="Group 12" id="12"/>
          <p:cNvGrpSpPr>
            <a:grpSpLocks noChangeAspect="true"/>
          </p:cNvGrpSpPr>
          <p:nvPr/>
        </p:nvGrpSpPr>
        <p:grpSpPr>
          <a:xfrm rot="0">
            <a:off x="16582399" y="8511534"/>
            <a:ext cx="3550932" cy="3550932"/>
            <a:chOff x="0" y="0"/>
            <a:chExt cx="6355080" cy="6355080"/>
          </a:xfrm>
        </p:grpSpPr>
        <p:sp>
          <p:nvSpPr>
            <p:cNvPr name="Freeform 13" id="13"/>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6123E"/>
            </a:solidFill>
          </p:spPr>
        </p:sp>
      </p:grpSp>
      <p:grpSp>
        <p:nvGrpSpPr>
          <p:cNvPr name="Group 14" id="14"/>
          <p:cNvGrpSpPr/>
          <p:nvPr/>
        </p:nvGrpSpPr>
        <p:grpSpPr>
          <a:xfrm rot="0">
            <a:off x="17595249" y="9524384"/>
            <a:ext cx="1525232" cy="1525232"/>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504C84"/>
            </a:solidFill>
          </p:spPr>
        </p:sp>
      </p:grpSp>
      <p:sp>
        <p:nvSpPr>
          <p:cNvPr name="Freeform 16" id="16"/>
          <p:cNvSpPr/>
          <p:nvPr/>
        </p:nvSpPr>
        <p:spPr>
          <a:xfrm flipH="false" flipV="false" rot="0">
            <a:off x="13688665" y="4324570"/>
            <a:ext cx="3275159" cy="1063520"/>
          </a:xfrm>
          <a:custGeom>
            <a:avLst/>
            <a:gdLst/>
            <a:ahLst/>
            <a:cxnLst/>
            <a:rect r="r" b="b" t="t" l="l"/>
            <a:pathLst>
              <a:path h="1063520" w="3275159">
                <a:moveTo>
                  <a:pt x="0" y="0"/>
                </a:moveTo>
                <a:lnTo>
                  <a:pt x="3275159" y="0"/>
                </a:lnTo>
                <a:lnTo>
                  <a:pt x="3275159" y="1063520"/>
                </a:lnTo>
                <a:lnTo>
                  <a:pt x="0" y="1063520"/>
                </a:lnTo>
                <a:lnTo>
                  <a:pt x="0" y="0"/>
                </a:lnTo>
                <a:close/>
              </a:path>
            </a:pathLst>
          </a:custGeom>
          <a:blipFill>
            <a:blip r:embed="rId4"/>
            <a:stretch>
              <a:fillRect l="0" t="0" r="0" b="0"/>
            </a:stretch>
          </a:blipFill>
        </p:spPr>
      </p:sp>
      <p:sp>
        <p:nvSpPr>
          <p:cNvPr name="Freeform 17" id="17"/>
          <p:cNvSpPr/>
          <p:nvPr/>
        </p:nvSpPr>
        <p:spPr>
          <a:xfrm flipH="false" flipV="false" rot="0">
            <a:off x="13444150" y="6160215"/>
            <a:ext cx="3764189" cy="1027942"/>
          </a:xfrm>
          <a:custGeom>
            <a:avLst/>
            <a:gdLst/>
            <a:ahLst/>
            <a:cxnLst/>
            <a:rect r="r" b="b" t="t" l="l"/>
            <a:pathLst>
              <a:path h="1027942" w="3764189">
                <a:moveTo>
                  <a:pt x="0" y="0"/>
                </a:moveTo>
                <a:lnTo>
                  <a:pt x="3764189" y="0"/>
                </a:lnTo>
                <a:lnTo>
                  <a:pt x="3764189" y="1027941"/>
                </a:lnTo>
                <a:lnTo>
                  <a:pt x="0" y="1027941"/>
                </a:lnTo>
                <a:lnTo>
                  <a:pt x="0" y="0"/>
                </a:lnTo>
                <a:close/>
              </a:path>
            </a:pathLst>
          </a:custGeom>
          <a:blipFill>
            <a:blip r:embed="rId5"/>
            <a:stretch>
              <a:fillRect l="0" t="0" r="0" b="0"/>
            </a:stretch>
          </a:blipFill>
        </p:spPr>
      </p:sp>
      <p:sp>
        <p:nvSpPr>
          <p:cNvPr name="TextBox 18" id="18"/>
          <p:cNvSpPr txBox="true"/>
          <p:nvPr/>
        </p:nvSpPr>
        <p:spPr>
          <a:xfrm rot="0">
            <a:off x="-325385"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Agda</a:t>
            </a:r>
          </a:p>
        </p:txBody>
      </p:sp>
      <p:sp>
        <p:nvSpPr>
          <p:cNvPr name="Freeform 19" id="19"/>
          <p:cNvSpPr/>
          <p:nvPr/>
        </p:nvSpPr>
        <p:spPr>
          <a:xfrm flipH="false" flipV="false" rot="0">
            <a:off x="210401" y="3078894"/>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210401" y="6375769"/>
            <a:ext cx="596832" cy="596832"/>
          </a:xfrm>
          <a:custGeom>
            <a:avLst/>
            <a:gdLst/>
            <a:ahLst/>
            <a:cxnLst/>
            <a:rect r="r" b="b" t="t" l="l"/>
            <a:pathLst>
              <a:path h="596832" w="596832">
                <a:moveTo>
                  <a:pt x="0" y="0"/>
                </a:moveTo>
                <a:lnTo>
                  <a:pt x="596832" y="0"/>
                </a:lnTo>
                <a:lnTo>
                  <a:pt x="596832" y="596832"/>
                </a:lnTo>
                <a:lnTo>
                  <a:pt x="0" y="5968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253746" y="708493"/>
            <a:ext cx="6765202" cy="1935813"/>
            <a:chOff x="0" y="0"/>
            <a:chExt cx="6688586" cy="1913890"/>
          </a:xfrm>
        </p:grpSpPr>
        <p:sp>
          <p:nvSpPr>
            <p:cNvPr name="Freeform 3" id="3"/>
            <p:cNvSpPr/>
            <p:nvPr/>
          </p:nvSpPr>
          <p:spPr>
            <a:xfrm flipH="false" flipV="false" rot="0">
              <a:off x="0" y="0"/>
              <a:ext cx="6688586" cy="1913890"/>
            </a:xfrm>
            <a:custGeom>
              <a:avLst/>
              <a:gdLst/>
              <a:ahLst/>
              <a:cxnLst/>
              <a:rect r="r" b="b" t="t" l="l"/>
              <a:pathLst>
                <a:path h="1913890" w="6688586">
                  <a:moveTo>
                    <a:pt x="6688586" y="956945"/>
                  </a:moveTo>
                  <a:cubicBezTo>
                    <a:pt x="6688586" y="1485392"/>
                    <a:pt x="6260215" y="1913890"/>
                    <a:pt x="5731641" y="1913890"/>
                  </a:cubicBezTo>
                  <a:lnTo>
                    <a:pt x="956945" y="1913890"/>
                  </a:lnTo>
                  <a:cubicBezTo>
                    <a:pt x="428371" y="1913890"/>
                    <a:pt x="0" y="1485392"/>
                    <a:pt x="0" y="956945"/>
                  </a:cubicBezTo>
                  <a:cubicBezTo>
                    <a:pt x="0" y="428371"/>
                    <a:pt x="428371" y="0"/>
                    <a:pt x="956945" y="0"/>
                  </a:cubicBezTo>
                  <a:lnTo>
                    <a:pt x="5731641" y="0"/>
                  </a:lnTo>
                  <a:cubicBezTo>
                    <a:pt x="6260088" y="0"/>
                    <a:pt x="6688586" y="428371"/>
                    <a:pt x="6688586" y="956945"/>
                  </a:cubicBezTo>
                  <a:close/>
                </a:path>
              </a:pathLst>
            </a:custGeom>
            <a:solidFill>
              <a:srgbClr val="2A2664"/>
            </a:solidFill>
          </p:spPr>
        </p:sp>
      </p:grpSp>
      <p:sp>
        <p:nvSpPr>
          <p:cNvPr name="Freeform 4" id="4"/>
          <p:cNvSpPr/>
          <p:nvPr/>
        </p:nvSpPr>
        <p:spPr>
          <a:xfrm flipH="false" flipV="false" rot="0">
            <a:off x="14662553" y="5662347"/>
            <a:ext cx="3210725" cy="3019284"/>
          </a:xfrm>
          <a:custGeom>
            <a:avLst/>
            <a:gdLst/>
            <a:ahLst/>
            <a:cxnLst/>
            <a:rect r="r" b="b" t="t" l="l"/>
            <a:pathLst>
              <a:path h="3019284" w="3210725">
                <a:moveTo>
                  <a:pt x="0" y="0"/>
                </a:moveTo>
                <a:lnTo>
                  <a:pt x="3210726" y="0"/>
                </a:lnTo>
                <a:lnTo>
                  <a:pt x="3210726" y="3019284"/>
                </a:lnTo>
                <a:lnTo>
                  <a:pt x="0" y="3019284"/>
                </a:lnTo>
                <a:lnTo>
                  <a:pt x="0" y="0"/>
                </a:lnTo>
                <a:close/>
              </a:path>
            </a:pathLst>
          </a:custGeom>
          <a:blipFill>
            <a:blip r:embed="rId2">
              <a:alphaModFix amt="81000"/>
            </a:blip>
            <a:stretch>
              <a:fillRect l="-94517" t="0" r="-93719" b="0"/>
            </a:stretch>
          </a:blipFill>
        </p:spPr>
      </p:sp>
      <p:sp>
        <p:nvSpPr>
          <p:cNvPr name="TextBox 5" id="5"/>
          <p:cNvSpPr txBox="true"/>
          <p:nvPr/>
        </p:nvSpPr>
        <p:spPr>
          <a:xfrm rot="0">
            <a:off x="1492835" y="3381519"/>
            <a:ext cx="12062270" cy="5876781"/>
          </a:xfrm>
          <a:prstGeom prst="rect">
            <a:avLst/>
          </a:prstGeom>
        </p:spPr>
        <p:txBody>
          <a:bodyPr anchor="t" rtlCol="false" tIns="0" lIns="0" bIns="0" rIns="0">
            <a:spAutoFit/>
          </a:bodyPr>
          <a:lstStyle/>
          <a:p>
            <a:pPr algn="l">
              <a:lnSpc>
                <a:spcPts val="5232"/>
              </a:lnSpc>
            </a:pPr>
            <a:r>
              <a:rPr lang="en-US" sz="3488">
                <a:solidFill>
                  <a:srgbClr val="16123E"/>
                </a:solidFill>
                <a:latin typeface="Garet"/>
                <a:ea typeface="Garet"/>
                <a:cs typeface="Garet"/>
                <a:sym typeface="Garet"/>
              </a:rPr>
              <a:t>What is ChatGPT?</a:t>
            </a:r>
          </a:p>
          <a:p>
            <a:pPr algn="l" marL="1506191" indent="-502064" lvl="2">
              <a:lnSpc>
                <a:spcPts val="5232"/>
              </a:lnSpc>
              <a:buFont typeface="Arial"/>
              <a:buChar char="⚬"/>
            </a:pPr>
            <a:r>
              <a:rPr lang="en-US" sz="3488">
                <a:solidFill>
                  <a:srgbClr val="16123E"/>
                </a:solidFill>
                <a:latin typeface="Garet"/>
                <a:ea typeface="Garet"/>
                <a:cs typeface="Garet"/>
                <a:sym typeface="Garet"/>
              </a:rPr>
              <a:t>A Large Language Model designed for natural language processing.</a:t>
            </a:r>
          </a:p>
          <a:p>
            <a:pPr algn="l">
              <a:lnSpc>
                <a:spcPts val="5232"/>
              </a:lnSpc>
            </a:pPr>
          </a:p>
          <a:p>
            <a:pPr algn="l">
              <a:lnSpc>
                <a:spcPts val="5232"/>
              </a:lnSpc>
            </a:pPr>
            <a:r>
              <a:rPr lang="en-US" sz="3488">
                <a:solidFill>
                  <a:srgbClr val="16123E"/>
                </a:solidFill>
                <a:latin typeface="Garet"/>
                <a:ea typeface="Garet"/>
                <a:cs typeface="Garet"/>
                <a:sym typeface="Garet"/>
              </a:rPr>
              <a:t>Why ChatGPT?</a:t>
            </a:r>
          </a:p>
          <a:p>
            <a:pPr algn="l" marL="1506191" indent="-502064" lvl="2">
              <a:lnSpc>
                <a:spcPts val="5232"/>
              </a:lnSpc>
              <a:buFont typeface="Arial"/>
              <a:buChar char="⚬"/>
            </a:pPr>
            <a:r>
              <a:rPr lang="en-US" sz="3488">
                <a:solidFill>
                  <a:srgbClr val="16123E"/>
                </a:solidFill>
                <a:latin typeface="Garet"/>
                <a:ea typeface="Garet"/>
                <a:cs typeface="Garet"/>
                <a:sym typeface="Garet"/>
              </a:rPr>
              <a:t>Generates human-like proofs mathematical from natural language inputs.</a:t>
            </a:r>
          </a:p>
          <a:p>
            <a:pPr algn="l" marL="1506191" indent="-502064" lvl="2">
              <a:lnSpc>
                <a:spcPts val="5232"/>
              </a:lnSpc>
              <a:buFont typeface="Arial"/>
              <a:buChar char="⚬"/>
            </a:pPr>
            <a:r>
              <a:rPr lang="en-US" sz="3488">
                <a:solidFill>
                  <a:srgbClr val="16123E"/>
                </a:solidFill>
                <a:latin typeface="Garet"/>
                <a:ea typeface="Garet"/>
                <a:cs typeface="Garet"/>
                <a:sym typeface="Garet"/>
              </a:rPr>
              <a:t>Provides an API that will be used for communication with Agda.</a:t>
            </a:r>
          </a:p>
        </p:txBody>
      </p:sp>
      <p:grpSp>
        <p:nvGrpSpPr>
          <p:cNvPr name="Group 6" id="6"/>
          <p:cNvGrpSpPr>
            <a:grpSpLocks noChangeAspect="true"/>
          </p:cNvGrpSpPr>
          <p:nvPr/>
        </p:nvGrpSpPr>
        <p:grpSpPr>
          <a:xfrm rot="0">
            <a:off x="16193254" y="-1758688"/>
            <a:ext cx="3870212" cy="3870212"/>
            <a:chOff x="0" y="0"/>
            <a:chExt cx="6355080" cy="6355080"/>
          </a:xfrm>
        </p:grpSpPr>
        <p:sp>
          <p:nvSpPr>
            <p:cNvPr name="Freeform 7" id="7"/>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8" id="8"/>
          <p:cNvGrpSpPr/>
          <p:nvPr/>
        </p:nvGrpSpPr>
        <p:grpSpPr>
          <a:xfrm rot="0">
            <a:off x="17297174" y="-654767"/>
            <a:ext cx="1662372" cy="1662372"/>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Freeform 10" id="10"/>
          <p:cNvSpPr/>
          <p:nvPr/>
        </p:nvSpPr>
        <p:spPr>
          <a:xfrm flipH="false" flipV="false" rot="0">
            <a:off x="793315" y="3476769"/>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10430"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ChatGPT</a:t>
            </a:r>
          </a:p>
        </p:txBody>
      </p:sp>
      <p:sp>
        <p:nvSpPr>
          <p:cNvPr name="Freeform 12" id="12"/>
          <p:cNvSpPr/>
          <p:nvPr/>
        </p:nvSpPr>
        <p:spPr>
          <a:xfrm flipH="false" flipV="false" rot="0">
            <a:off x="793315" y="6149803"/>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sp>
        <p:nvSpPr>
          <p:cNvPr name="Freeform 4" id="4"/>
          <p:cNvSpPr/>
          <p:nvPr/>
        </p:nvSpPr>
        <p:spPr>
          <a:xfrm flipH="false" flipV="false" rot="0">
            <a:off x="11067843" y="3745911"/>
            <a:ext cx="5646939" cy="4291674"/>
          </a:xfrm>
          <a:custGeom>
            <a:avLst/>
            <a:gdLst/>
            <a:ahLst/>
            <a:cxnLst/>
            <a:rect r="r" b="b" t="t" l="l"/>
            <a:pathLst>
              <a:path h="4291674" w="5646939">
                <a:moveTo>
                  <a:pt x="0" y="0"/>
                </a:moveTo>
                <a:lnTo>
                  <a:pt x="5646939" y="0"/>
                </a:lnTo>
                <a:lnTo>
                  <a:pt x="5646939" y="4291674"/>
                </a:lnTo>
                <a:lnTo>
                  <a:pt x="0" y="42916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90469" y="3745911"/>
            <a:ext cx="1625249" cy="1625249"/>
          </a:xfrm>
          <a:custGeom>
            <a:avLst/>
            <a:gdLst/>
            <a:ahLst/>
            <a:cxnLst/>
            <a:rect r="r" b="b" t="t" l="l"/>
            <a:pathLst>
              <a:path h="1625249" w="1625249">
                <a:moveTo>
                  <a:pt x="0" y="0"/>
                </a:moveTo>
                <a:lnTo>
                  <a:pt x="1625250" y="0"/>
                </a:lnTo>
                <a:lnTo>
                  <a:pt x="1625250" y="1625250"/>
                </a:lnTo>
                <a:lnTo>
                  <a:pt x="0" y="16252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490469" y="5456357"/>
            <a:ext cx="1625249" cy="1625249"/>
          </a:xfrm>
          <a:custGeom>
            <a:avLst/>
            <a:gdLst/>
            <a:ahLst/>
            <a:cxnLst/>
            <a:rect r="r" b="b" t="t" l="l"/>
            <a:pathLst>
              <a:path h="1625249" w="1625249">
                <a:moveTo>
                  <a:pt x="0" y="0"/>
                </a:moveTo>
                <a:lnTo>
                  <a:pt x="1625250" y="0"/>
                </a:lnTo>
                <a:lnTo>
                  <a:pt x="1625250" y="1625249"/>
                </a:lnTo>
                <a:lnTo>
                  <a:pt x="0" y="16252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490469" y="7081606"/>
            <a:ext cx="1625249" cy="1625249"/>
          </a:xfrm>
          <a:custGeom>
            <a:avLst/>
            <a:gdLst/>
            <a:ahLst/>
            <a:cxnLst/>
            <a:rect r="r" b="b" t="t" l="l"/>
            <a:pathLst>
              <a:path h="1625249" w="1625249">
                <a:moveTo>
                  <a:pt x="0" y="0"/>
                </a:moveTo>
                <a:lnTo>
                  <a:pt x="1625250" y="0"/>
                </a:lnTo>
                <a:lnTo>
                  <a:pt x="1625250" y="1625250"/>
                </a:lnTo>
                <a:lnTo>
                  <a:pt x="0" y="16252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367833" y="1298542"/>
            <a:ext cx="15346949"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Research/Engineering Process</a:t>
            </a:r>
          </a:p>
        </p:txBody>
      </p:sp>
      <p:sp>
        <p:nvSpPr>
          <p:cNvPr name="TextBox 9" id="9"/>
          <p:cNvSpPr txBox="true"/>
          <p:nvPr/>
        </p:nvSpPr>
        <p:spPr>
          <a:xfrm rot="0">
            <a:off x="3549935" y="4359539"/>
            <a:ext cx="5594065" cy="560569"/>
          </a:xfrm>
          <a:prstGeom prst="rect">
            <a:avLst/>
          </a:prstGeom>
        </p:spPr>
        <p:txBody>
          <a:bodyPr anchor="t" rtlCol="false" tIns="0" lIns="0" bIns="0" rIns="0">
            <a:spAutoFit/>
          </a:bodyPr>
          <a:lstStyle/>
          <a:p>
            <a:pPr algn="l">
              <a:lnSpc>
                <a:spcPts val="4417"/>
              </a:lnSpc>
              <a:spcBef>
                <a:spcPct val="0"/>
              </a:spcBef>
            </a:pPr>
            <a:r>
              <a:rPr lang="en-US" b="true" sz="3681">
                <a:solidFill>
                  <a:srgbClr val="16123E"/>
                </a:solidFill>
                <a:latin typeface="Garet Bold"/>
                <a:ea typeface="Garet Bold"/>
                <a:cs typeface="Garet Bold"/>
                <a:sym typeface="Garet Bold"/>
              </a:rPr>
              <a:t>Algorithm</a:t>
            </a:r>
          </a:p>
        </p:txBody>
      </p:sp>
      <p:sp>
        <p:nvSpPr>
          <p:cNvPr name="TextBox 10" id="10"/>
          <p:cNvSpPr txBox="true"/>
          <p:nvPr/>
        </p:nvSpPr>
        <p:spPr>
          <a:xfrm rot="0">
            <a:off x="3549935" y="5998963"/>
            <a:ext cx="5594065" cy="560569"/>
          </a:xfrm>
          <a:prstGeom prst="rect">
            <a:avLst/>
          </a:prstGeom>
        </p:spPr>
        <p:txBody>
          <a:bodyPr anchor="t" rtlCol="false" tIns="0" lIns="0" bIns="0" rIns="0">
            <a:spAutoFit/>
          </a:bodyPr>
          <a:lstStyle/>
          <a:p>
            <a:pPr algn="l">
              <a:lnSpc>
                <a:spcPts val="4417"/>
              </a:lnSpc>
              <a:spcBef>
                <a:spcPct val="0"/>
              </a:spcBef>
            </a:pPr>
            <a:r>
              <a:rPr lang="en-US" b="true" sz="3681">
                <a:solidFill>
                  <a:srgbClr val="16123E"/>
                </a:solidFill>
                <a:latin typeface="Garet Bold"/>
                <a:ea typeface="Garet Bold"/>
                <a:cs typeface="Garet Bold"/>
                <a:sym typeface="Garet Bold"/>
              </a:rPr>
              <a:t>Diagrams</a:t>
            </a:r>
          </a:p>
        </p:txBody>
      </p:sp>
      <p:sp>
        <p:nvSpPr>
          <p:cNvPr name="TextBox 11" id="11"/>
          <p:cNvSpPr txBox="true"/>
          <p:nvPr/>
        </p:nvSpPr>
        <p:spPr>
          <a:xfrm rot="0">
            <a:off x="3549935" y="7608331"/>
            <a:ext cx="5594065" cy="560569"/>
          </a:xfrm>
          <a:prstGeom prst="rect">
            <a:avLst/>
          </a:prstGeom>
        </p:spPr>
        <p:txBody>
          <a:bodyPr anchor="t" rtlCol="false" tIns="0" lIns="0" bIns="0" rIns="0">
            <a:spAutoFit/>
          </a:bodyPr>
          <a:lstStyle/>
          <a:p>
            <a:pPr algn="l">
              <a:lnSpc>
                <a:spcPts val="4417"/>
              </a:lnSpc>
              <a:spcBef>
                <a:spcPct val="0"/>
              </a:spcBef>
            </a:pPr>
            <a:r>
              <a:rPr lang="en-US" b="true" sz="3681">
                <a:solidFill>
                  <a:srgbClr val="16123E"/>
                </a:solidFill>
                <a:latin typeface="Garet Bold"/>
                <a:ea typeface="Garet Bold"/>
                <a:cs typeface="Garet Bold"/>
                <a:sym typeface="Garet Bold"/>
              </a:rPr>
              <a:t>Challenges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330963" y="750885"/>
            <a:ext cx="20536886" cy="1739822"/>
            <a:chOff x="0" y="0"/>
            <a:chExt cx="29788293" cy="2523573"/>
          </a:xfrm>
        </p:grpSpPr>
        <p:sp>
          <p:nvSpPr>
            <p:cNvPr name="Freeform 3" id="3"/>
            <p:cNvSpPr/>
            <p:nvPr/>
          </p:nvSpPr>
          <p:spPr>
            <a:xfrm flipH="false" flipV="false" rot="0">
              <a:off x="0" y="0"/>
              <a:ext cx="29788293" cy="2523573"/>
            </a:xfrm>
            <a:custGeom>
              <a:avLst/>
              <a:gdLst/>
              <a:ahLst/>
              <a:cxnLst/>
              <a:rect r="r" b="b" t="t" l="l"/>
              <a:pathLst>
                <a:path h="2523573" w="29788293">
                  <a:moveTo>
                    <a:pt x="29788293" y="1261786"/>
                  </a:moveTo>
                  <a:cubicBezTo>
                    <a:pt x="29788293" y="2095075"/>
                    <a:pt x="29359923" y="2523573"/>
                    <a:pt x="28831347" y="2523573"/>
                  </a:cubicBezTo>
                  <a:lnTo>
                    <a:pt x="956945" y="2523573"/>
                  </a:lnTo>
                  <a:cubicBezTo>
                    <a:pt x="428371" y="2523573"/>
                    <a:pt x="0" y="2095075"/>
                    <a:pt x="0" y="1261786"/>
                  </a:cubicBezTo>
                  <a:cubicBezTo>
                    <a:pt x="0" y="428371"/>
                    <a:pt x="428371" y="0"/>
                    <a:pt x="956945" y="0"/>
                  </a:cubicBezTo>
                  <a:lnTo>
                    <a:pt x="28831347" y="0"/>
                  </a:lnTo>
                  <a:cubicBezTo>
                    <a:pt x="29359796" y="0"/>
                    <a:pt x="29788293" y="428371"/>
                    <a:pt x="29788293" y="1261786"/>
                  </a:cubicBezTo>
                  <a:close/>
                </a:path>
              </a:pathLst>
            </a:custGeom>
            <a:solidFill>
              <a:srgbClr val="2B2664"/>
            </a:solidFill>
          </p:spPr>
        </p:sp>
      </p:grpSp>
      <p:grpSp>
        <p:nvGrpSpPr>
          <p:cNvPr name="Group 4" id="4"/>
          <p:cNvGrpSpPr/>
          <p:nvPr/>
        </p:nvGrpSpPr>
        <p:grpSpPr>
          <a:xfrm rot="0">
            <a:off x="3043022" y="2578934"/>
            <a:ext cx="11070730" cy="787084"/>
            <a:chOff x="0" y="0"/>
            <a:chExt cx="6329033" cy="449969"/>
          </a:xfrm>
        </p:grpSpPr>
        <p:sp>
          <p:nvSpPr>
            <p:cNvPr name="Freeform 5" id="5"/>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6" id="6"/>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grpSp>
        <p:nvGrpSpPr>
          <p:cNvPr name="Group 7" id="7"/>
          <p:cNvGrpSpPr/>
          <p:nvPr/>
        </p:nvGrpSpPr>
        <p:grpSpPr>
          <a:xfrm rot="0">
            <a:off x="3043022" y="5317887"/>
            <a:ext cx="11070730" cy="787084"/>
            <a:chOff x="0" y="0"/>
            <a:chExt cx="6329033" cy="449969"/>
          </a:xfrm>
        </p:grpSpPr>
        <p:sp>
          <p:nvSpPr>
            <p:cNvPr name="Freeform 8" id="8"/>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9" id="9"/>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Freeform 10" id="10"/>
          <p:cNvSpPr/>
          <p:nvPr/>
        </p:nvSpPr>
        <p:spPr>
          <a:xfrm flipH="false" flipV="false" rot="6877328">
            <a:off x="13879582" y="4305300"/>
            <a:ext cx="1626012" cy="1203249"/>
          </a:xfrm>
          <a:custGeom>
            <a:avLst/>
            <a:gdLst/>
            <a:ahLst/>
            <a:cxnLst/>
            <a:rect r="r" b="b" t="t" l="l"/>
            <a:pathLst>
              <a:path h="1203249" w="1626012">
                <a:moveTo>
                  <a:pt x="0" y="0"/>
                </a:moveTo>
                <a:lnTo>
                  <a:pt x="1626012" y="0"/>
                </a:lnTo>
                <a:lnTo>
                  <a:pt x="1626012" y="1203249"/>
                </a:lnTo>
                <a:lnTo>
                  <a:pt x="0" y="1203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lgDash"/>
            <a:miter/>
          </a:ln>
        </p:spPr>
      </p:sp>
      <p:sp>
        <p:nvSpPr>
          <p:cNvPr name="TextBox 11" id="11"/>
          <p:cNvSpPr txBox="true"/>
          <p:nvPr/>
        </p:nvSpPr>
        <p:spPr>
          <a:xfrm rot="0">
            <a:off x="6389132" y="1242938"/>
            <a:ext cx="4570208"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Algorithm</a:t>
            </a:r>
          </a:p>
        </p:txBody>
      </p:sp>
      <p:sp>
        <p:nvSpPr>
          <p:cNvPr name="TextBox 12" id="12"/>
          <p:cNvSpPr txBox="true"/>
          <p:nvPr/>
        </p:nvSpPr>
        <p:spPr>
          <a:xfrm rot="0">
            <a:off x="4981813" y="2761781"/>
            <a:ext cx="7177560"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Receive mathematical proof from user</a:t>
            </a:r>
          </a:p>
        </p:txBody>
      </p:sp>
      <p:grpSp>
        <p:nvGrpSpPr>
          <p:cNvPr name="Group 13" id="13"/>
          <p:cNvGrpSpPr/>
          <p:nvPr/>
        </p:nvGrpSpPr>
        <p:grpSpPr>
          <a:xfrm rot="0">
            <a:off x="3043022" y="3947642"/>
            <a:ext cx="11070730" cy="787084"/>
            <a:chOff x="0" y="0"/>
            <a:chExt cx="6329033" cy="449969"/>
          </a:xfrm>
        </p:grpSpPr>
        <p:sp>
          <p:nvSpPr>
            <p:cNvPr name="Freeform 14" id="14"/>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15" id="15"/>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TextBox 16" id="16"/>
          <p:cNvSpPr txBox="true"/>
          <p:nvPr/>
        </p:nvSpPr>
        <p:spPr>
          <a:xfrm rot="0">
            <a:off x="4808332" y="4130456"/>
            <a:ext cx="7515550" cy="421457"/>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ChatGPT generates Agda code as proof </a:t>
            </a:r>
          </a:p>
        </p:txBody>
      </p:sp>
      <p:sp>
        <p:nvSpPr>
          <p:cNvPr name="TextBox 17" id="17"/>
          <p:cNvSpPr txBox="true"/>
          <p:nvPr/>
        </p:nvSpPr>
        <p:spPr>
          <a:xfrm rot="0">
            <a:off x="4054574" y="5498862"/>
            <a:ext cx="9047625"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Verify generated mathematical proof using Agda</a:t>
            </a:r>
          </a:p>
        </p:txBody>
      </p:sp>
      <p:grpSp>
        <p:nvGrpSpPr>
          <p:cNvPr name="Group 18" id="18"/>
          <p:cNvGrpSpPr/>
          <p:nvPr/>
        </p:nvGrpSpPr>
        <p:grpSpPr>
          <a:xfrm rot="0">
            <a:off x="3043022" y="8058377"/>
            <a:ext cx="11070730" cy="787084"/>
            <a:chOff x="0" y="0"/>
            <a:chExt cx="6329033" cy="449969"/>
          </a:xfrm>
        </p:grpSpPr>
        <p:sp>
          <p:nvSpPr>
            <p:cNvPr name="Freeform 19" id="19"/>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20" id="20"/>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TextBox 21" id="21"/>
          <p:cNvSpPr txBox="true"/>
          <p:nvPr/>
        </p:nvSpPr>
        <p:spPr>
          <a:xfrm rot="0">
            <a:off x="5586768" y="8239352"/>
            <a:ext cx="6189220" cy="421457"/>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Send feedback back to ChatGPT</a:t>
            </a:r>
          </a:p>
        </p:txBody>
      </p:sp>
      <p:sp>
        <p:nvSpPr>
          <p:cNvPr name="TextBox 22" id="22"/>
          <p:cNvSpPr txBox="true"/>
          <p:nvPr/>
        </p:nvSpPr>
        <p:spPr>
          <a:xfrm rot="0">
            <a:off x="15306557" y="4847870"/>
            <a:ext cx="2392746" cy="402247"/>
          </a:xfrm>
          <a:prstGeom prst="rect">
            <a:avLst/>
          </a:prstGeom>
        </p:spPr>
        <p:txBody>
          <a:bodyPr anchor="t" rtlCol="false" tIns="0" lIns="0" bIns="0" rIns="0">
            <a:spAutoFit/>
          </a:bodyPr>
          <a:lstStyle/>
          <a:p>
            <a:pPr algn="ctr">
              <a:lnSpc>
                <a:spcPts val="3137"/>
              </a:lnSpc>
              <a:spcBef>
                <a:spcPct val="0"/>
              </a:spcBef>
            </a:pPr>
            <a:r>
              <a:rPr lang="en-US" sz="2614">
                <a:solidFill>
                  <a:srgbClr val="16123E"/>
                </a:solidFill>
                <a:latin typeface="Garet"/>
                <a:ea typeface="Garet"/>
                <a:cs typeface="Garet"/>
                <a:sym typeface="Garet"/>
              </a:rPr>
              <a:t>Refine proof </a:t>
            </a:r>
          </a:p>
        </p:txBody>
      </p:sp>
      <p:sp>
        <p:nvSpPr>
          <p:cNvPr name="Freeform 23" id="23"/>
          <p:cNvSpPr/>
          <p:nvPr/>
        </p:nvSpPr>
        <p:spPr>
          <a:xfrm flipH="false" flipV="false" rot="5496411">
            <a:off x="8353365" y="3558999"/>
            <a:ext cx="425484" cy="194127"/>
          </a:xfrm>
          <a:custGeom>
            <a:avLst/>
            <a:gdLst/>
            <a:ahLst/>
            <a:cxnLst/>
            <a:rect r="r" b="b" t="t" l="l"/>
            <a:pathLst>
              <a:path h="194127" w="425484">
                <a:moveTo>
                  <a:pt x="0" y="0"/>
                </a:moveTo>
                <a:lnTo>
                  <a:pt x="425485" y="0"/>
                </a:lnTo>
                <a:lnTo>
                  <a:pt x="425485" y="194127"/>
                </a:lnTo>
                <a:lnTo>
                  <a:pt x="0" y="1941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a:grpSpLocks noChangeAspect="true"/>
          </p:cNvGrpSpPr>
          <p:nvPr/>
        </p:nvGrpSpPr>
        <p:grpSpPr>
          <a:xfrm rot="0">
            <a:off x="-1933728" y="8620867"/>
            <a:ext cx="3550932" cy="3550932"/>
            <a:chOff x="0" y="0"/>
            <a:chExt cx="6355080" cy="6355080"/>
          </a:xfrm>
        </p:grpSpPr>
        <p:sp>
          <p:nvSpPr>
            <p:cNvPr name="Freeform 25" id="2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49448C"/>
            </a:solidFill>
          </p:spPr>
        </p:sp>
      </p:grpSp>
      <p:grpSp>
        <p:nvGrpSpPr>
          <p:cNvPr name="Group 26" id="26"/>
          <p:cNvGrpSpPr/>
          <p:nvPr/>
        </p:nvGrpSpPr>
        <p:grpSpPr>
          <a:xfrm rot="0">
            <a:off x="-595876" y="9358787"/>
            <a:ext cx="1525232" cy="1525232"/>
            <a:chOff x="0" y="0"/>
            <a:chExt cx="6350000" cy="6350000"/>
          </a:xfrm>
        </p:grpSpPr>
        <p:sp>
          <p:nvSpPr>
            <p:cNvPr name="Freeform 27" id="2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6C4D7"/>
            </a:solidFill>
          </p:spPr>
        </p:sp>
      </p:grpSp>
      <p:grpSp>
        <p:nvGrpSpPr>
          <p:cNvPr name="Group 28" id="28"/>
          <p:cNvGrpSpPr/>
          <p:nvPr/>
        </p:nvGrpSpPr>
        <p:grpSpPr>
          <a:xfrm rot="0">
            <a:off x="3043022" y="6688132"/>
            <a:ext cx="11070730" cy="787084"/>
            <a:chOff x="0" y="0"/>
            <a:chExt cx="6329033" cy="449969"/>
          </a:xfrm>
        </p:grpSpPr>
        <p:sp>
          <p:nvSpPr>
            <p:cNvPr name="Freeform 29" id="29"/>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30" id="30"/>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TextBox 31" id="31"/>
          <p:cNvSpPr txBox="true"/>
          <p:nvPr/>
        </p:nvSpPr>
        <p:spPr>
          <a:xfrm rot="0">
            <a:off x="4872872" y="6869107"/>
            <a:ext cx="7617012"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Verify context match to original problem</a:t>
            </a:r>
          </a:p>
        </p:txBody>
      </p:sp>
      <p:sp>
        <p:nvSpPr>
          <p:cNvPr name="Freeform 32" id="32"/>
          <p:cNvSpPr/>
          <p:nvPr/>
        </p:nvSpPr>
        <p:spPr>
          <a:xfrm flipH="false" flipV="true" rot="4144238">
            <a:off x="994243" y="4678445"/>
            <a:ext cx="2681728" cy="1984479"/>
          </a:xfrm>
          <a:custGeom>
            <a:avLst/>
            <a:gdLst/>
            <a:ahLst/>
            <a:cxnLst/>
            <a:rect r="r" b="b" t="t" l="l"/>
            <a:pathLst>
              <a:path h="1984479" w="2681728">
                <a:moveTo>
                  <a:pt x="0" y="1984479"/>
                </a:moveTo>
                <a:lnTo>
                  <a:pt x="2681729" y="1984479"/>
                </a:lnTo>
                <a:lnTo>
                  <a:pt x="2681729" y="0"/>
                </a:lnTo>
                <a:lnTo>
                  <a:pt x="0" y="0"/>
                </a:lnTo>
                <a:lnTo>
                  <a:pt x="0" y="1984479"/>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lgDash"/>
            <a:miter/>
          </a:ln>
        </p:spPr>
      </p:sp>
      <p:sp>
        <p:nvSpPr>
          <p:cNvPr name="TextBox 33" id="33"/>
          <p:cNvSpPr txBox="true"/>
          <p:nvPr/>
        </p:nvSpPr>
        <p:spPr>
          <a:xfrm rot="0">
            <a:off x="400554" y="7071639"/>
            <a:ext cx="2433299" cy="402247"/>
          </a:xfrm>
          <a:prstGeom prst="rect">
            <a:avLst/>
          </a:prstGeom>
        </p:spPr>
        <p:txBody>
          <a:bodyPr anchor="t" rtlCol="false" tIns="0" lIns="0" bIns="0" rIns="0">
            <a:spAutoFit/>
          </a:bodyPr>
          <a:lstStyle/>
          <a:p>
            <a:pPr algn="ctr">
              <a:lnSpc>
                <a:spcPts val="3137"/>
              </a:lnSpc>
              <a:spcBef>
                <a:spcPct val="0"/>
              </a:spcBef>
            </a:pPr>
            <a:r>
              <a:rPr lang="en-US" sz="2614">
                <a:solidFill>
                  <a:srgbClr val="16123E"/>
                </a:solidFill>
                <a:latin typeface="Garet"/>
                <a:ea typeface="Garet"/>
                <a:cs typeface="Garet"/>
                <a:sym typeface="Garet"/>
              </a:rPr>
              <a:t>Refine proof </a:t>
            </a:r>
          </a:p>
        </p:txBody>
      </p:sp>
      <p:grpSp>
        <p:nvGrpSpPr>
          <p:cNvPr name="Group 34" id="34"/>
          <p:cNvGrpSpPr/>
          <p:nvPr/>
        </p:nvGrpSpPr>
        <p:grpSpPr>
          <a:xfrm rot="0">
            <a:off x="3030743" y="9428622"/>
            <a:ext cx="11070730" cy="787084"/>
            <a:chOff x="0" y="0"/>
            <a:chExt cx="6329033" cy="449969"/>
          </a:xfrm>
        </p:grpSpPr>
        <p:sp>
          <p:nvSpPr>
            <p:cNvPr name="Freeform 35" id="35"/>
            <p:cNvSpPr/>
            <p:nvPr/>
          </p:nvSpPr>
          <p:spPr>
            <a:xfrm flipH="false" flipV="false" rot="0">
              <a:off x="0" y="0"/>
              <a:ext cx="6329033" cy="449969"/>
            </a:xfrm>
            <a:custGeom>
              <a:avLst/>
              <a:gdLst/>
              <a:ahLst/>
              <a:cxnLst/>
              <a:rect r="r" b="b" t="t" l="l"/>
              <a:pathLst>
                <a:path h="449969" w="6329033">
                  <a:moveTo>
                    <a:pt x="6125833" y="0"/>
                  </a:moveTo>
                  <a:cubicBezTo>
                    <a:pt x="6238058" y="0"/>
                    <a:pt x="6329033" y="100729"/>
                    <a:pt x="6329033" y="224984"/>
                  </a:cubicBezTo>
                  <a:cubicBezTo>
                    <a:pt x="6329033" y="349240"/>
                    <a:pt x="6238058" y="449969"/>
                    <a:pt x="6125833" y="449969"/>
                  </a:cubicBezTo>
                  <a:lnTo>
                    <a:pt x="203200" y="449969"/>
                  </a:lnTo>
                  <a:cubicBezTo>
                    <a:pt x="90976" y="449969"/>
                    <a:pt x="0" y="349240"/>
                    <a:pt x="0" y="224984"/>
                  </a:cubicBezTo>
                  <a:cubicBezTo>
                    <a:pt x="0" y="100729"/>
                    <a:pt x="90976" y="0"/>
                    <a:pt x="203200" y="0"/>
                  </a:cubicBezTo>
                  <a:close/>
                </a:path>
              </a:pathLst>
            </a:custGeom>
            <a:solidFill>
              <a:srgbClr val="C6C4D7"/>
            </a:solidFill>
          </p:spPr>
        </p:sp>
        <p:sp>
          <p:nvSpPr>
            <p:cNvPr name="TextBox 36" id="36"/>
            <p:cNvSpPr txBox="true"/>
            <p:nvPr/>
          </p:nvSpPr>
          <p:spPr>
            <a:xfrm>
              <a:off x="0" y="19050"/>
              <a:ext cx="6329033" cy="430919"/>
            </a:xfrm>
            <a:prstGeom prst="rect">
              <a:avLst/>
            </a:prstGeom>
          </p:spPr>
          <p:txBody>
            <a:bodyPr anchor="ctr" rtlCol="false" tIns="50800" lIns="50800" bIns="50800" rIns="50800"/>
            <a:lstStyle/>
            <a:p>
              <a:pPr algn="ctr">
                <a:lnSpc>
                  <a:spcPts val="1942"/>
                </a:lnSpc>
              </a:pPr>
            </a:p>
          </p:txBody>
        </p:sp>
      </p:grpSp>
      <p:sp>
        <p:nvSpPr>
          <p:cNvPr name="TextBox 37" id="37"/>
          <p:cNvSpPr txBox="true"/>
          <p:nvPr/>
        </p:nvSpPr>
        <p:spPr>
          <a:xfrm rot="0">
            <a:off x="7214981" y="9609597"/>
            <a:ext cx="2711225" cy="421391"/>
          </a:xfrm>
          <a:prstGeom prst="rect">
            <a:avLst/>
          </a:prstGeom>
        </p:spPr>
        <p:txBody>
          <a:bodyPr anchor="t" rtlCol="false" tIns="0" lIns="0" bIns="0" rIns="0">
            <a:spAutoFit/>
          </a:bodyPr>
          <a:lstStyle/>
          <a:p>
            <a:pPr algn="l">
              <a:lnSpc>
                <a:spcPts val="3378"/>
              </a:lnSpc>
              <a:spcBef>
                <a:spcPct val="0"/>
              </a:spcBef>
            </a:pPr>
            <a:r>
              <a:rPr lang="en-US" sz="2815">
                <a:solidFill>
                  <a:srgbClr val="16123E"/>
                </a:solidFill>
                <a:latin typeface="Garet"/>
                <a:ea typeface="Garet"/>
                <a:cs typeface="Garet"/>
                <a:sym typeface="Garet"/>
              </a:rPr>
              <a:t>Display results</a:t>
            </a:r>
          </a:p>
        </p:txBody>
      </p:sp>
      <p:sp>
        <p:nvSpPr>
          <p:cNvPr name="Freeform 38" id="38"/>
          <p:cNvSpPr/>
          <p:nvPr/>
        </p:nvSpPr>
        <p:spPr>
          <a:xfrm flipH="false" flipV="false" rot="5496411">
            <a:off x="8353365" y="4929243"/>
            <a:ext cx="425484" cy="194127"/>
          </a:xfrm>
          <a:custGeom>
            <a:avLst/>
            <a:gdLst/>
            <a:ahLst/>
            <a:cxnLst/>
            <a:rect r="r" b="b" t="t" l="l"/>
            <a:pathLst>
              <a:path h="194127" w="425484">
                <a:moveTo>
                  <a:pt x="0" y="0"/>
                </a:moveTo>
                <a:lnTo>
                  <a:pt x="425485" y="0"/>
                </a:lnTo>
                <a:lnTo>
                  <a:pt x="425485" y="194128"/>
                </a:lnTo>
                <a:lnTo>
                  <a:pt x="0" y="1941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9" id="39"/>
          <p:cNvSpPr/>
          <p:nvPr/>
        </p:nvSpPr>
        <p:spPr>
          <a:xfrm flipH="false" flipV="false" rot="5496411">
            <a:off x="8365645" y="6299488"/>
            <a:ext cx="425484" cy="194127"/>
          </a:xfrm>
          <a:custGeom>
            <a:avLst/>
            <a:gdLst/>
            <a:ahLst/>
            <a:cxnLst/>
            <a:rect r="r" b="b" t="t" l="l"/>
            <a:pathLst>
              <a:path h="194127" w="425484">
                <a:moveTo>
                  <a:pt x="0" y="0"/>
                </a:moveTo>
                <a:lnTo>
                  <a:pt x="425484" y="0"/>
                </a:lnTo>
                <a:lnTo>
                  <a:pt x="425484" y="194128"/>
                </a:lnTo>
                <a:lnTo>
                  <a:pt x="0" y="1941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0" id="40"/>
          <p:cNvSpPr/>
          <p:nvPr/>
        </p:nvSpPr>
        <p:spPr>
          <a:xfrm flipH="false" flipV="false" rot="5496411">
            <a:off x="8353365" y="7669733"/>
            <a:ext cx="425484" cy="194127"/>
          </a:xfrm>
          <a:custGeom>
            <a:avLst/>
            <a:gdLst/>
            <a:ahLst/>
            <a:cxnLst/>
            <a:rect r="r" b="b" t="t" l="l"/>
            <a:pathLst>
              <a:path h="194127" w="425484">
                <a:moveTo>
                  <a:pt x="0" y="0"/>
                </a:moveTo>
                <a:lnTo>
                  <a:pt x="425485" y="0"/>
                </a:lnTo>
                <a:lnTo>
                  <a:pt x="425485" y="194127"/>
                </a:lnTo>
                <a:lnTo>
                  <a:pt x="0" y="1941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1" id="41"/>
          <p:cNvSpPr/>
          <p:nvPr/>
        </p:nvSpPr>
        <p:spPr>
          <a:xfrm flipH="false" flipV="false" rot="5496411">
            <a:off x="8353365" y="9039978"/>
            <a:ext cx="425484" cy="194127"/>
          </a:xfrm>
          <a:custGeom>
            <a:avLst/>
            <a:gdLst/>
            <a:ahLst/>
            <a:cxnLst/>
            <a:rect r="r" b="b" t="t" l="l"/>
            <a:pathLst>
              <a:path h="194127" w="425484">
                <a:moveTo>
                  <a:pt x="0" y="0"/>
                </a:moveTo>
                <a:lnTo>
                  <a:pt x="425485" y="0"/>
                </a:lnTo>
                <a:lnTo>
                  <a:pt x="425485" y="194127"/>
                </a:lnTo>
                <a:lnTo>
                  <a:pt x="0" y="1941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053721" y="708493"/>
            <a:ext cx="7013079" cy="1935813"/>
            <a:chOff x="0" y="0"/>
            <a:chExt cx="6933656" cy="1913890"/>
          </a:xfrm>
        </p:grpSpPr>
        <p:sp>
          <p:nvSpPr>
            <p:cNvPr name="Freeform 3" id="3"/>
            <p:cNvSpPr/>
            <p:nvPr/>
          </p:nvSpPr>
          <p:spPr>
            <a:xfrm flipH="false" flipV="false" rot="0">
              <a:off x="0" y="0"/>
              <a:ext cx="6933657" cy="1913890"/>
            </a:xfrm>
            <a:custGeom>
              <a:avLst/>
              <a:gdLst/>
              <a:ahLst/>
              <a:cxnLst/>
              <a:rect r="r" b="b" t="t" l="l"/>
              <a:pathLst>
                <a:path h="1913890" w="6933657">
                  <a:moveTo>
                    <a:pt x="6933657" y="956945"/>
                  </a:moveTo>
                  <a:cubicBezTo>
                    <a:pt x="6933657" y="1485392"/>
                    <a:pt x="6505285" y="1913890"/>
                    <a:pt x="5976711" y="1913890"/>
                  </a:cubicBezTo>
                  <a:lnTo>
                    <a:pt x="956945" y="1913890"/>
                  </a:lnTo>
                  <a:cubicBezTo>
                    <a:pt x="428371" y="1913890"/>
                    <a:pt x="0" y="1485392"/>
                    <a:pt x="0" y="956945"/>
                  </a:cubicBezTo>
                  <a:cubicBezTo>
                    <a:pt x="0" y="428371"/>
                    <a:pt x="428371" y="0"/>
                    <a:pt x="956945" y="0"/>
                  </a:cubicBezTo>
                  <a:lnTo>
                    <a:pt x="5976711" y="0"/>
                  </a:lnTo>
                  <a:cubicBezTo>
                    <a:pt x="6505159" y="0"/>
                    <a:pt x="6933657" y="428371"/>
                    <a:pt x="6933657" y="956945"/>
                  </a:cubicBezTo>
                  <a:close/>
                </a:path>
              </a:pathLst>
            </a:custGeom>
            <a:solidFill>
              <a:srgbClr val="2B2664"/>
            </a:solidFill>
          </p:spPr>
        </p:sp>
      </p:grpSp>
      <p:grpSp>
        <p:nvGrpSpPr>
          <p:cNvPr name="Group 4" id="4"/>
          <p:cNvGrpSpPr/>
          <p:nvPr/>
        </p:nvGrpSpPr>
        <p:grpSpPr>
          <a:xfrm rot="0">
            <a:off x="-1053721" y="3588241"/>
            <a:ext cx="5988023" cy="1718085"/>
            <a:chOff x="0" y="0"/>
            <a:chExt cx="1568271" cy="449969"/>
          </a:xfrm>
        </p:grpSpPr>
        <p:sp>
          <p:nvSpPr>
            <p:cNvPr name="Freeform 5" id="5"/>
            <p:cNvSpPr/>
            <p:nvPr/>
          </p:nvSpPr>
          <p:spPr>
            <a:xfrm flipH="false" flipV="false" rot="0">
              <a:off x="0" y="0"/>
              <a:ext cx="1568271" cy="449969"/>
            </a:xfrm>
            <a:custGeom>
              <a:avLst/>
              <a:gdLst/>
              <a:ahLst/>
              <a:cxnLst/>
              <a:rect r="r" b="b" t="t" l="l"/>
              <a:pathLst>
                <a:path h="449969" w="1568271">
                  <a:moveTo>
                    <a:pt x="1365071" y="0"/>
                  </a:moveTo>
                  <a:cubicBezTo>
                    <a:pt x="1477295" y="0"/>
                    <a:pt x="1568271" y="100729"/>
                    <a:pt x="1568271" y="224984"/>
                  </a:cubicBezTo>
                  <a:cubicBezTo>
                    <a:pt x="1568271" y="349240"/>
                    <a:pt x="1477295" y="449969"/>
                    <a:pt x="136507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6" id="6"/>
            <p:cNvSpPr txBox="true"/>
            <p:nvPr/>
          </p:nvSpPr>
          <p:spPr>
            <a:xfrm>
              <a:off x="0" y="19050"/>
              <a:ext cx="1568271" cy="430919"/>
            </a:xfrm>
            <a:prstGeom prst="rect">
              <a:avLst/>
            </a:prstGeom>
          </p:spPr>
          <p:txBody>
            <a:bodyPr anchor="ctr" rtlCol="false" tIns="50800" lIns="50800" bIns="50800" rIns="50800"/>
            <a:lstStyle/>
            <a:p>
              <a:pPr algn="ctr">
                <a:lnSpc>
                  <a:spcPts val="1942"/>
                </a:lnSpc>
              </a:pPr>
            </a:p>
          </p:txBody>
        </p:sp>
      </p:grpSp>
      <p:sp>
        <p:nvSpPr>
          <p:cNvPr name="Freeform 7" id="7"/>
          <p:cNvSpPr/>
          <p:nvPr/>
        </p:nvSpPr>
        <p:spPr>
          <a:xfrm flipH="false" flipV="false" rot="0">
            <a:off x="8003253" y="235462"/>
            <a:ext cx="9138467" cy="9881429"/>
          </a:xfrm>
          <a:custGeom>
            <a:avLst/>
            <a:gdLst/>
            <a:ahLst/>
            <a:cxnLst/>
            <a:rect r="r" b="b" t="t" l="l"/>
            <a:pathLst>
              <a:path h="9881429" w="9138467">
                <a:moveTo>
                  <a:pt x="0" y="0"/>
                </a:moveTo>
                <a:lnTo>
                  <a:pt x="9138467" y="0"/>
                </a:lnTo>
                <a:lnTo>
                  <a:pt x="9138467" y="9881429"/>
                </a:lnTo>
                <a:lnTo>
                  <a:pt x="0" y="9881429"/>
                </a:lnTo>
                <a:lnTo>
                  <a:pt x="0" y="0"/>
                </a:lnTo>
                <a:close/>
              </a:path>
            </a:pathLst>
          </a:custGeom>
          <a:blipFill>
            <a:blip r:embed="rId2"/>
            <a:stretch>
              <a:fillRect l="0" t="-523" r="0" b="0"/>
            </a:stretch>
          </a:blipFill>
        </p:spPr>
      </p:sp>
      <p:sp>
        <p:nvSpPr>
          <p:cNvPr name="TextBox 8" id="8"/>
          <p:cNvSpPr txBox="true"/>
          <p:nvPr/>
        </p:nvSpPr>
        <p:spPr>
          <a:xfrm rot="0">
            <a:off x="404737"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Diagrams</a:t>
            </a:r>
          </a:p>
        </p:txBody>
      </p:sp>
      <p:sp>
        <p:nvSpPr>
          <p:cNvPr name="TextBox 9" id="9"/>
          <p:cNvSpPr txBox="true"/>
          <p:nvPr/>
        </p:nvSpPr>
        <p:spPr>
          <a:xfrm rot="0">
            <a:off x="281354" y="4082251"/>
            <a:ext cx="4919768" cy="634816"/>
          </a:xfrm>
          <a:prstGeom prst="rect">
            <a:avLst/>
          </a:prstGeom>
        </p:spPr>
        <p:txBody>
          <a:bodyPr anchor="t" rtlCol="false" tIns="0" lIns="0" bIns="0" rIns="0">
            <a:spAutoFit/>
          </a:bodyPr>
          <a:lstStyle/>
          <a:p>
            <a:pPr algn="l">
              <a:lnSpc>
                <a:spcPts val="5382"/>
              </a:lnSpc>
            </a:pPr>
            <a:r>
              <a:rPr lang="en-US" sz="3588" b="true">
                <a:solidFill>
                  <a:srgbClr val="16123E"/>
                </a:solidFill>
                <a:latin typeface="Garet Bold"/>
                <a:ea typeface="Garet Bold"/>
                <a:cs typeface="Garet Bold"/>
                <a:sym typeface="Garet Bold"/>
              </a:rPr>
              <a:t>Use Case Diagram </a:t>
            </a:r>
          </a:p>
        </p:txBody>
      </p:sp>
      <p:grpSp>
        <p:nvGrpSpPr>
          <p:cNvPr name="Group 10" id="10"/>
          <p:cNvGrpSpPr>
            <a:grpSpLocks noChangeAspect="true"/>
          </p:cNvGrpSpPr>
          <p:nvPr/>
        </p:nvGrpSpPr>
        <p:grpSpPr>
          <a:xfrm rot="0">
            <a:off x="-1608726" y="8345937"/>
            <a:ext cx="3550932" cy="3550932"/>
            <a:chOff x="0" y="0"/>
            <a:chExt cx="6355080" cy="6355080"/>
          </a:xfrm>
        </p:grpSpPr>
        <p:sp>
          <p:nvSpPr>
            <p:cNvPr name="Freeform 11" id="11"/>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12" id="12"/>
          <p:cNvGrpSpPr/>
          <p:nvPr/>
        </p:nvGrpSpPr>
        <p:grpSpPr>
          <a:xfrm rot="0">
            <a:off x="-595876" y="9358787"/>
            <a:ext cx="1525232" cy="1525232"/>
            <a:chOff x="0" y="0"/>
            <a:chExt cx="6350000" cy="6350000"/>
          </a:xfrm>
        </p:grpSpPr>
        <p:sp>
          <p:nvSpPr>
            <p:cNvPr name="Freeform 13" id="1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6123E"/>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10800000">
            <a:off x="-1053721" y="708493"/>
            <a:ext cx="7248338" cy="1935813"/>
            <a:chOff x="0" y="0"/>
            <a:chExt cx="7166251" cy="1913890"/>
          </a:xfrm>
        </p:grpSpPr>
        <p:sp>
          <p:nvSpPr>
            <p:cNvPr name="Freeform 3" id="3"/>
            <p:cNvSpPr/>
            <p:nvPr/>
          </p:nvSpPr>
          <p:spPr>
            <a:xfrm flipH="false" flipV="false" rot="0">
              <a:off x="0" y="0"/>
              <a:ext cx="7166251" cy="1913890"/>
            </a:xfrm>
            <a:custGeom>
              <a:avLst/>
              <a:gdLst/>
              <a:ahLst/>
              <a:cxnLst/>
              <a:rect r="r" b="b" t="t" l="l"/>
              <a:pathLst>
                <a:path h="1913890" w="7166251">
                  <a:moveTo>
                    <a:pt x="7166251" y="956945"/>
                  </a:moveTo>
                  <a:cubicBezTo>
                    <a:pt x="7166251" y="1485392"/>
                    <a:pt x="6737880" y="1913890"/>
                    <a:pt x="6209306" y="1913890"/>
                  </a:cubicBezTo>
                  <a:lnTo>
                    <a:pt x="956945" y="1913890"/>
                  </a:lnTo>
                  <a:cubicBezTo>
                    <a:pt x="428371" y="1913890"/>
                    <a:pt x="0" y="1485392"/>
                    <a:pt x="0" y="956945"/>
                  </a:cubicBezTo>
                  <a:cubicBezTo>
                    <a:pt x="0" y="428371"/>
                    <a:pt x="428371" y="0"/>
                    <a:pt x="956945" y="0"/>
                  </a:cubicBezTo>
                  <a:lnTo>
                    <a:pt x="6209306" y="0"/>
                  </a:lnTo>
                  <a:cubicBezTo>
                    <a:pt x="6737753" y="0"/>
                    <a:pt x="7166251" y="428371"/>
                    <a:pt x="7166251" y="956945"/>
                  </a:cubicBezTo>
                  <a:close/>
                </a:path>
              </a:pathLst>
            </a:custGeom>
            <a:solidFill>
              <a:srgbClr val="2A2664"/>
            </a:solidFill>
          </p:spPr>
        </p:sp>
      </p:grpSp>
      <p:grpSp>
        <p:nvGrpSpPr>
          <p:cNvPr name="Group 4" id="4"/>
          <p:cNvGrpSpPr/>
          <p:nvPr/>
        </p:nvGrpSpPr>
        <p:grpSpPr>
          <a:xfrm rot="0">
            <a:off x="-1053721" y="3588241"/>
            <a:ext cx="5988023" cy="1718085"/>
            <a:chOff x="0" y="0"/>
            <a:chExt cx="1568271" cy="449969"/>
          </a:xfrm>
        </p:grpSpPr>
        <p:sp>
          <p:nvSpPr>
            <p:cNvPr name="Freeform 5" id="5"/>
            <p:cNvSpPr/>
            <p:nvPr/>
          </p:nvSpPr>
          <p:spPr>
            <a:xfrm flipH="false" flipV="false" rot="0">
              <a:off x="0" y="0"/>
              <a:ext cx="1568271" cy="449969"/>
            </a:xfrm>
            <a:custGeom>
              <a:avLst/>
              <a:gdLst/>
              <a:ahLst/>
              <a:cxnLst/>
              <a:rect r="r" b="b" t="t" l="l"/>
              <a:pathLst>
                <a:path h="449969" w="1568271">
                  <a:moveTo>
                    <a:pt x="1365071" y="0"/>
                  </a:moveTo>
                  <a:cubicBezTo>
                    <a:pt x="1477295" y="0"/>
                    <a:pt x="1568271" y="100729"/>
                    <a:pt x="1568271" y="224984"/>
                  </a:cubicBezTo>
                  <a:cubicBezTo>
                    <a:pt x="1568271" y="349240"/>
                    <a:pt x="1477295" y="449969"/>
                    <a:pt x="1365071" y="449969"/>
                  </a:cubicBezTo>
                  <a:lnTo>
                    <a:pt x="203200" y="449969"/>
                  </a:lnTo>
                  <a:cubicBezTo>
                    <a:pt x="90976" y="449969"/>
                    <a:pt x="0" y="349240"/>
                    <a:pt x="0" y="224984"/>
                  </a:cubicBezTo>
                  <a:cubicBezTo>
                    <a:pt x="0" y="100729"/>
                    <a:pt x="90976" y="0"/>
                    <a:pt x="203200" y="0"/>
                  </a:cubicBezTo>
                  <a:close/>
                </a:path>
              </a:pathLst>
            </a:custGeom>
            <a:solidFill>
              <a:srgbClr val="ADAAC7"/>
            </a:solidFill>
          </p:spPr>
        </p:sp>
        <p:sp>
          <p:nvSpPr>
            <p:cNvPr name="TextBox 6" id="6"/>
            <p:cNvSpPr txBox="true"/>
            <p:nvPr/>
          </p:nvSpPr>
          <p:spPr>
            <a:xfrm>
              <a:off x="0" y="19050"/>
              <a:ext cx="1568271" cy="430919"/>
            </a:xfrm>
            <a:prstGeom prst="rect">
              <a:avLst/>
            </a:prstGeom>
          </p:spPr>
          <p:txBody>
            <a:bodyPr anchor="ctr" rtlCol="false" tIns="50800" lIns="50800" bIns="50800" rIns="50800"/>
            <a:lstStyle/>
            <a:p>
              <a:pPr algn="ctr">
                <a:lnSpc>
                  <a:spcPts val="1942"/>
                </a:lnSpc>
              </a:pPr>
            </a:p>
          </p:txBody>
        </p:sp>
      </p:grpSp>
      <p:sp>
        <p:nvSpPr>
          <p:cNvPr name="TextBox 7" id="7"/>
          <p:cNvSpPr txBox="true"/>
          <p:nvPr/>
        </p:nvSpPr>
        <p:spPr>
          <a:xfrm rot="0">
            <a:off x="602255" y="1298575"/>
            <a:ext cx="4796385"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Diagrams</a:t>
            </a:r>
          </a:p>
        </p:txBody>
      </p:sp>
      <p:sp>
        <p:nvSpPr>
          <p:cNvPr name="TextBox 8" id="8"/>
          <p:cNvSpPr txBox="true"/>
          <p:nvPr/>
        </p:nvSpPr>
        <p:spPr>
          <a:xfrm rot="0">
            <a:off x="286469" y="4082251"/>
            <a:ext cx="4919768" cy="634816"/>
          </a:xfrm>
          <a:prstGeom prst="rect">
            <a:avLst/>
          </a:prstGeom>
        </p:spPr>
        <p:txBody>
          <a:bodyPr anchor="t" rtlCol="false" tIns="0" lIns="0" bIns="0" rIns="0">
            <a:spAutoFit/>
          </a:bodyPr>
          <a:lstStyle/>
          <a:p>
            <a:pPr algn="l">
              <a:lnSpc>
                <a:spcPts val="5382"/>
              </a:lnSpc>
            </a:pPr>
            <a:r>
              <a:rPr lang="en-US" sz="3588" b="true">
                <a:solidFill>
                  <a:srgbClr val="16123E"/>
                </a:solidFill>
                <a:latin typeface="Garet Bold"/>
                <a:ea typeface="Garet Bold"/>
                <a:cs typeface="Garet Bold"/>
                <a:sym typeface="Garet Bold"/>
              </a:rPr>
              <a:t>Activity Diagram </a:t>
            </a:r>
          </a:p>
        </p:txBody>
      </p:sp>
      <p:grpSp>
        <p:nvGrpSpPr>
          <p:cNvPr name="Group 9" id="9"/>
          <p:cNvGrpSpPr/>
          <p:nvPr/>
        </p:nvGrpSpPr>
        <p:grpSpPr>
          <a:xfrm rot="0">
            <a:off x="9460716" y="219703"/>
            <a:ext cx="5345030" cy="9676442"/>
            <a:chOff x="0" y="0"/>
            <a:chExt cx="1407745" cy="2548528"/>
          </a:xfrm>
        </p:grpSpPr>
        <p:sp>
          <p:nvSpPr>
            <p:cNvPr name="Freeform 10" id="10"/>
            <p:cNvSpPr/>
            <p:nvPr/>
          </p:nvSpPr>
          <p:spPr>
            <a:xfrm flipH="false" flipV="false" rot="0">
              <a:off x="0" y="0"/>
              <a:ext cx="1407744" cy="2548528"/>
            </a:xfrm>
            <a:custGeom>
              <a:avLst/>
              <a:gdLst/>
              <a:ahLst/>
              <a:cxnLst/>
              <a:rect r="r" b="b" t="t" l="l"/>
              <a:pathLst>
                <a:path h="2548528" w="1407744">
                  <a:moveTo>
                    <a:pt x="73870" y="0"/>
                  </a:moveTo>
                  <a:lnTo>
                    <a:pt x="1333874" y="0"/>
                  </a:lnTo>
                  <a:cubicBezTo>
                    <a:pt x="1353466" y="0"/>
                    <a:pt x="1372255" y="7783"/>
                    <a:pt x="1386108" y="21636"/>
                  </a:cubicBezTo>
                  <a:cubicBezTo>
                    <a:pt x="1399962" y="35489"/>
                    <a:pt x="1407744" y="54279"/>
                    <a:pt x="1407744" y="73870"/>
                  </a:cubicBezTo>
                  <a:lnTo>
                    <a:pt x="1407744" y="2474658"/>
                  </a:lnTo>
                  <a:cubicBezTo>
                    <a:pt x="1407744" y="2515455"/>
                    <a:pt x="1374672" y="2548528"/>
                    <a:pt x="1333874" y="2548528"/>
                  </a:cubicBezTo>
                  <a:lnTo>
                    <a:pt x="73870" y="2548528"/>
                  </a:lnTo>
                  <a:cubicBezTo>
                    <a:pt x="54279" y="2548528"/>
                    <a:pt x="35489" y="2540745"/>
                    <a:pt x="21636" y="2526892"/>
                  </a:cubicBezTo>
                  <a:cubicBezTo>
                    <a:pt x="7783" y="2513039"/>
                    <a:pt x="0" y="2494249"/>
                    <a:pt x="0" y="2474658"/>
                  </a:cubicBezTo>
                  <a:lnTo>
                    <a:pt x="0" y="73870"/>
                  </a:lnTo>
                  <a:cubicBezTo>
                    <a:pt x="0" y="33073"/>
                    <a:pt x="33073" y="0"/>
                    <a:pt x="73870" y="0"/>
                  </a:cubicBezTo>
                  <a:close/>
                </a:path>
              </a:pathLst>
            </a:custGeom>
            <a:solidFill>
              <a:srgbClr val="000000">
                <a:alpha val="0"/>
              </a:srgbClr>
            </a:solidFill>
            <a:ln w="19050" cap="rnd">
              <a:solidFill>
                <a:srgbClr val="000000"/>
              </a:solidFill>
              <a:prstDash val="solid"/>
              <a:round/>
            </a:ln>
          </p:spPr>
        </p:sp>
        <p:sp>
          <p:nvSpPr>
            <p:cNvPr name="TextBox 11" id="11"/>
            <p:cNvSpPr txBox="true"/>
            <p:nvPr/>
          </p:nvSpPr>
          <p:spPr>
            <a:xfrm>
              <a:off x="0" y="-38100"/>
              <a:ext cx="1407745" cy="2586628"/>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9743689" y="708493"/>
            <a:ext cx="4957605" cy="8892212"/>
          </a:xfrm>
          <a:custGeom>
            <a:avLst/>
            <a:gdLst/>
            <a:ahLst/>
            <a:cxnLst/>
            <a:rect r="r" b="b" t="t" l="l"/>
            <a:pathLst>
              <a:path h="8892212" w="4957605">
                <a:moveTo>
                  <a:pt x="0" y="0"/>
                </a:moveTo>
                <a:lnTo>
                  <a:pt x="4957605" y="0"/>
                </a:lnTo>
                <a:lnTo>
                  <a:pt x="4957605" y="8892213"/>
                </a:lnTo>
                <a:lnTo>
                  <a:pt x="0" y="8892213"/>
                </a:lnTo>
                <a:lnTo>
                  <a:pt x="0" y="0"/>
                </a:lnTo>
                <a:close/>
              </a:path>
            </a:pathLst>
          </a:custGeom>
          <a:blipFill>
            <a:blip r:embed="rId2"/>
            <a:stretch>
              <a:fillRect l="0" t="0" r="0" b="0"/>
            </a:stretch>
          </a:blipFill>
        </p:spPr>
      </p:sp>
      <p:grpSp>
        <p:nvGrpSpPr>
          <p:cNvPr name="Group 13" id="13"/>
          <p:cNvGrpSpPr>
            <a:grpSpLocks noChangeAspect="true"/>
          </p:cNvGrpSpPr>
          <p:nvPr/>
        </p:nvGrpSpPr>
        <p:grpSpPr>
          <a:xfrm rot="0">
            <a:off x="-1608726" y="8345937"/>
            <a:ext cx="3550932" cy="3550932"/>
            <a:chOff x="0" y="0"/>
            <a:chExt cx="6355080" cy="6355080"/>
          </a:xfrm>
        </p:grpSpPr>
        <p:sp>
          <p:nvSpPr>
            <p:cNvPr name="Freeform 14" id="14"/>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15" id="15"/>
          <p:cNvGrpSpPr/>
          <p:nvPr/>
        </p:nvGrpSpPr>
        <p:grpSpPr>
          <a:xfrm rot="0">
            <a:off x="-595876" y="9358787"/>
            <a:ext cx="1525232" cy="1525232"/>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6123E"/>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grpSp>
        <p:nvGrpSpPr>
          <p:cNvPr name="Group 4" id="4"/>
          <p:cNvGrpSpPr/>
          <p:nvPr/>
        </p:nvGrpSpPr>
        <p:grpSpPr>
          <a:xfrm rot="0">
            <a:off x="-1498236" y="9028570"/>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Freeform 6" id="6"/>
          <p:cNvSpPr/>
          <p:nvPr/>
        </p:nvSpPr>
        <p:spPr>
          <a:xfrm flipH="false" flipV="false" rot="0">
            <a:off x="12972477" y="3942433"/>
            <a:ext cx="4034037" cy="3383549"/>
          </a:xfrm>
          <a:custGeom>
            <a:avLst/>
            <a:gdLst/>
            <a:ahLst/>
            <a:cxnLst/>
            <a:rect r="r" b="b" t="t" l="l"/>
            <a:pathLst>
              <a:path h="3383549" w="4034037">
                <a:moveTo>
                  <a:pt x="0" y="0"/>
                </a:moveTo>
                <a:lnTo>
                  <a:pt x="4034037" y="0"/>
                </a:lnTo>
                <a:lnTo>
                  <a:pt x="4034037" y="3383549"/>
                </a:lnTo>
                <a:lnTo>
                  <a:pt x="0" y="33835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648763" y="3977188"/>
            <a:ext cx="10961763" cy="3475641"/>
          </a:xfrm>
          <a:prstGeom prst="rect">
            <a:avLst/>
          </a:prstGeom>
        </p:spPr>
        <p:txBody>
          <a:bodyPr anchor="t" rtlCol="false" tIns="0" lIns="0" bIns="0" rIns="0">
            <a:spAutoFit/>
          </a:bodyPr>
          <a:lstStyle/>
          <a:p>
            <a:pPr algn="l">
              <a:lnSpc>
                <a:spcPts val="5615"/>
              </a:lnSpc>
            </a:pPr>
            <a:r>
              <a:rPr lang="en-US" sz="3488">
                <a:solidFill>
                  <a:srgbClr val="16123E"/>
                </a:solidFill>
                <a:latin typeface="Garet"/>
                <a:ea typeface="Garet"/>
                <a:cs typeface="Garet"/>
                <a:sym typeface="Garet"/>
              </a:rPr>
              <a:t>ChatGPT-4o Mini Performance Issues</a:t>
            </a:r>
          </a:p>
          <a:p>
            <a:pPr algn="l">
              <a:lnSpc>
                <a:spcPts val="5615"/>
              </a:lnSpc>
            </a:pPr>
            <a:r>
              <a:rPr lang="en-US" sz="3488">
                <a:solidFill>
                  <a:srgbClr val="16123E"/>
                </a:solidFill>
                <a:latin typeface="Garet"/>
                <a:ea typeface="Garet"/>
                <a:cs typeface="Garet"/>
                <a:sym typeface="Garet"/>
              </a:rPr>
              <a:t>Non-Convergence in Proof Refinement</a:t>
            </a:r>
          </a:p>
          <a:p>
            <a:pPr algn="l">
              <a:lnSpc>
                <a:spcPts val="5615"/>
              </a:lnSpc>
            </a:pPr>
            <a:r>
              <a:rPr lang="en-US" sz="3488">
                <a:solidFill>
                  <a:srgbClr val="16123E"/>
                </a:solidFill>
                <a:latin typeface="Garet"/>
                <a:ea typeface="Garet"/>
                <a:cs typeface="Garet"/>
                <a:sym typeface="Garet"/>
              </a:rPr>
              <a:t>Efficiency and API Optimization</a:t>
            </a:r>
          </a:p>
          <a:p>
            <a:pPr algn="l">
              <a:lnSpc>
                <a:spcPts val="5615"/>
              </a:lnSpc>
            </a:pPr>
            <a:r>
              <a:rPr lang="en-US" sz="3488">
                <a:solidFill>
                  <a:srgbClr val="16123E"/>
                </a:solidFill>
                <a:latin typeface="Garet"/>
                <a:ea typeface="Garet"/>
                <a:cs typeface="Garet"/>
                <a:sym typeface="Garet"/>
              </a:rPr>
              <a:t>Agda’s Strict Syntax and GPT-4o Adaptation </a:t>
            </a:r>
          </a:p>
          <a:p>
            <a:pPr algn="l">
              <a:lnSpc>
                <a:spcPts val="5615"/>
              </a:lnSpc>
            </a:pPr>
            <a:r>
              <a:rPr lang="en-US" sz="3488">
                <a:solidFill>
                  <a:srgbClr val="16123E"/>
                </a:solidFill>
                <a:latin typeface="Garet"/>
                <a:ea typeface="Garet"/>
                <a:cs typeface="Garet"/>
                <a:sym typeface="Garet"/>
              </a:rPr>
              <a:t>Proof Context Match After Convergence </a:t>
            </a:r>
          </a:p>
        </p:txBody>
      </p:sp>
      <p:grpSp>
        <p:nvGrpSpPr>
          <p:cNvPr name="Group 8" id="8"/>
          <p:cNvGrpSpPr>
            <a:grpSpLocks noChangeAspect="true"/>
          </p:cNvGrpSpPr>
          <p:nvPr/>
        </p:nvGrpSpPr>
        <p:grpSpPr>
          <a:xfrm rot="0">
            <a:off x="-1498236" y="8511534"/>
            <a:ext cx="3550932" cy="3550932"/>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16123E"/>
            </a:solidFill>
          </p:spPr>
        </p:sp>
      </p:grpSp>
      <p:sp>
        <p:nvSpPr>
          <p:cNvPr name="Freeform 10" id="10"/>
          <p:cNvSpPr/>
          <p:nvPr/>
        </p:nvSpPr>
        <p:spPr>
          <a:xfrm flipH="false" flipV="false" rot="0">
            <a:off x="771012" y="4110538"/>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TextBox 11" id="11"/>
          <p:cNvSpPr txBox="true"/>
          <p:nvPr/>
        </p:nvSpPr>
        <p:spPr>
          <a:xfrm rot="0">
            <a:off x="1942206" y="1298575"/>
            <a:ext cx="14081391"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Challenges</a:t>
            </a:r>
          </a:p>
        </p:txBody>
      </p:sp>
      <p:sp>
        <p:nvSpPr>
          <p:cNvPr name="Freeform 12" id="12"/>
          <p:cNvSpPr/>
          <p:nvPr/>
        </p:nvSpPr>
        <p:spPr>
          <a:xfrm flipH="false" flipV="false" rot="0">
            <a:off x="771012" y="4817465"/>
            <a:ext cx="515802" cy="554727"/>
          </a:xfrm>
          <a:custGeom>
            <a:avLst/>
            <a:gdLst/>
            <a:ahLst/>
            <a:cxnLst/>
            <a:rect r="r" b="b" t="t" l="l"/>
            <a:pathLst>
              <a:path h="554727" w="515802">
                <a:moveTo>
                  <a:pt x="0" y="0"/>
                </a:moveTo>
                <a:lnTo>
                  <a:pt x="515801" y="0"/>
                </a:lnTo>
                <a:lnTo>
                  <a:pt x="515801" y="554728"/>
                </a:lnTo>
                <a:lnTo>
                  <a:pt x="0" y="554728"/>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Freeform 13" id="13"/>
          <p:cNvSpPr/>
          <p:nvPr/>
        </p:nvSpPr>
        <p:spPr>
          <a:xfrm flipH="false" flipV="false" rot="0">
            <a:off x="771012" y="5524593"/>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Freeform 14" id="14"/>
          <p:cNvSpPr/>
          <p:nvPr/>
        </p:nvSpPr>
        <p:spPr>
          <a:xfrm flipH="false" flipV="false" rot="0">
            <a:off x="771012" y="6231720"/>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
        <p:nvSpPr>
          <p:cNvPr name="Freeform 15" id="15"/>
          <p:cNvSpPr/>
          <p:nvPr/>
        </p:nvSpPr>
        <p:spPr>
          <a:xfrm flipH="false" flipV="false" rot="0">
            <a:off x="771012" y="6938847"/>
            <a:ext cx="515802" cy="554727"/>
          </a:xfrm>
          <a:custGeom>
            <a:avLst/>
            <a:gdLst/>
            <a:ahLst/>
            <a:cxnLst/>
            <a:rect r="r" b="b" t="t" l="l"/>
            <a:pathLst>
              <a:path h="554727" w="515802">
                <a:moveTo>
                  <a:pt x="0" y="0"/>
                </a:moveTo>
                <a:lnTo>
                  <a:pt x="515801" y="0"/>
                </a:lnTo>
                <a:lnTo>
                  <a:pt x="515801" y="554727"/>
                </a:lnTo>
                <a:lnTo>
                  <a:pt x="0" y="554727"/>
                </a:lnTo>
                <a:lnTo>
                  <a:pt x="0" y="0"/>
                </a:lnTo>
                <a:close/>
              </a:path>
            </a:pathLst>
          </a:custGeom>
          <a:blipFill>
            <a:blip r:embed="rId5">
              <a:extLst>
                <a:ext uri="{96DAC541-7B7A-43D3-8B79-37D633B846F1}">
                  <asvg:svgBlip xmlns:asvg="http://schemas.microsoft.com/office/drawing/2016/SVG/main" r:embed="rId6"/>
                </a:ext>
              </a:extLst>
            </a:blip>
            <a:stretch>
              <a:fillRect l="-9861" t="0" r="0" b="-208703"/>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1749101" y="3469456"/>
            <a:ext cx="1111991" cy="111199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49101" y="6586643"/>
            <a:ext cx="1111991" cy="111199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49101" y="5028049"/>
            <a:ext cx="1111991" cy="111199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749101" y="8146309"/>
            <a:ext cx="1111991" cy="111199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DAAC7"/>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0728710" y="4192869"/>
            <a:ext cx="5646939" cy="4291674"/>
          </a:xfrm>
          <a:custGeom>
            <a:avLst/>
            <a:gdLst/>
            <a:ahLst/>
            <a:cxnLst/>
            <a:rect r="r" b="b" t="t" l="l"/>
            <a:pathLst>
              <a:path h="4291674" w="5646939">
                <a:moveTo>
                  <a:pt x="0" y="0"/>
                </a:moveTo>
                <a:lnTo>
                  <a:pt x="5646939" y="0"/>
                </a:lnTo>
                <a:lnTo>
                  <a:pt x="5646939" y="4291673"/>
                </a:lnTo>
                <a:lnTo>
                  <a:pt x="0" y="42916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7" id="17"/>
          <p:cNvSpPr txBox="true"/>
          <p:nvPr/>
        </p:nvSpPr>
        <p:spPr>
          <a:xfrm rot="0">
            <a:off x="2579229" y="1298542"/>
            <a:ext cx="13796421"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Research Summary</a:t>
            </a:r>
          </a:p>
        </p:txBody>
      </p:sp>
      <p:sp>
        <p:nvSpPr>
          <p:cNvPr name="TextBox 18" id="18"/>
          <p:cNvSpPr txBox="true"/>
          <p:nvPr/>
        </p:nvSpPr>
        <p:spPr>
          <a:xfrm rot="0">
            <a:off x="1922275" y="3826739"/>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01</a:t>
            </a:r>
          </a:p>
        </p:txBody>
      </p:sp>
      <p:sp>
        <p:nvSpPr>
          <p:cNvPr name="TextBox 19" id="19"/>
          <p:cNvSpPr txBox="true"/>
          <p:nvPr/>
        </p:nvSpPr>
        <p:spPr>
          <a:xfrm rot="0">
            <a:off x="3013446" y="3807689"/>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Testing process</a:t>
            </a:r>
          </a:p>
        </p:txBody>
      </p:sp>
      <p:sp>
        <p:nvSpPr>
          <p:cNvPr name="TextBox 20" id="20"/>
          <p:cNvSpPr txBox="true"/>
          <p:nvPr/>
        </p:nvSpPr>
        <p:spPr>
          <a:xfrm rot="0">
            <a:off x="1922275" y="6943926"/>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03</a:t>
            </a:r>
          </a:p>
        </p:txBody>
      </p:sp>
      <p:sp>
        <p:nvSpPr>
          <p:cNvPr name="TextBox 21" id="21"/>
          <p:cNvSpPr txBox="true"/>
          <p:nvPr/>
        </p:nvSpPr>
        <p:spPr>
          <a:xfrm rot="0">
            <a:off x="1922275" y="5385333"/>
            <a:ext cx="765643" cy="545958"/>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02</a:t>
            </a:r>
          </a:p>
        </p:txBody>
      </p:sp>
      <p:sp>
        <p:nvSpPr>
          <p:cNvPr name="TextBox 22" id="22"/>
          <p:cNvSpPr txBox="true"/>
          <p:nvPr/>
        </p:nvSpPr>
        <p:spPr>
          <a:xfrm rot="0">
            <a:off x="3013446" y="8455967"/>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Conclusions</a:t>
            </a:r>
          </a:p>
        </p:txBody>
      </p:sp>
      <p:sp>
        <p:nvSpPr>
          <p:cNvPr name="TextBox 23" id="23"/>
          <p:cNvSpPr txBox="true"/>
          <p:nvPr/>
        </p:nvSpPr>
        <p:spPr>
          <a:xfrm rot="0">
            <a:off x="3013446" y="5366283"/>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Results</a:t>
            </a:r>
          </a:p>
        </p:txBody>
      </p:sp>
      <p:sp>
        <p:nvSpPr>
          <p:cNvPr name="TextBox 24" id="24"/>
          <p:cNvSpPr txBox="true"/>
          <p:nvPr/>
        </p:nvSpPr>
        <p:spPr>
          <a:xfrm rot="0">
            <a:off x="1922275" y="8503592"/>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04</a:t>
            </a:r>
          </a:p>
        </p:txBody>
      </p:sp>
      <p:sp>
        <p:nvSpPr>
          <p:cNvPr name="TextBox 25" id="25"/>
          <p:cNvSpPr txBox="true"/>
          <p:nvPr/>
        </p:nvSpPr>
        <p:spPr>
          <a:xfrm rot="0">
            <a:off x="3013446" y="6896301"/>
            <a:ext cx="5318252" cy="485841"/>
          </a:xfrm>
          <a:prstGeom prst="rect">
            <a:avLst/>
          </a:prstGeom>
        </p:spPr>
        <p:txBody>
          <a:bodyPr anchor="t" rtlCol="false" tIns="0" lIns="0" bIns="0" rIns="0">
            <a:spAutoFit/>
          </a:bodyPr>
          <a:lstStyle/>
          <a:p>
            <a:pPr algn="l">
              <a:lnSpc>
                <a:spcPts val="3840"/>
              </a:lnSpc>
              <a:spcBef>
                <a:spcPct val="0"/>
              </a:spcBef>
            </a:pPr>
            <a:r>
              <a:rPr lang="en-US" b="true" sz="3200">
                <a:solidFill>
                  <a:srgbClr val="16123E"/>
                </a:solidFill>
                <a:latin typeface="Garet Bold"/>
                <a:ea typeface="Garet Bold"/>
                <a:cs typeface="Garet Bold"/>
                <a:sym typeface="Garet Bold"/>
              </a:rPr>
              <a:t>Insights</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745978" y="8280994"/>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DAAC7"/>
            </a:solidFill>
          </p:spPr>
        </p:sp>
      </p:grpSp>
      <p:graphicFrame>
        <p:nvGraphicFramePr>
          <p:cNvPr name="Table 6" id="6"/>
          <p:cNvGraphicFramePr>
            <a:graphicFrameLocks noGrp="true"/>
          </p:cNvGraphicFramePr>
          <p:nvPr/>
        </p:nvGraphicFramePr>
        <p:xfrm>
          <a:off x="1438209" y="3035386"/>
          <a:ext cx="16120297" cy="6515100"/>
        </p:xfrm>
        <a:graphic>
          <a:graphicData uri="http://schemas.openxmlformats.org/drawingml/2006/table">
            <a:tbl>
              <a:tblPr/>
              <a:tblGrid>
                <a:gridCol w="2483339"/>
                <a:gridCol w="6416812"/>
                <a:gridCol w="7220145"/>
              </a:tblGrid>
              <a:tr h="1224571">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a:t>
                      </a:r>
                    </a:p>
                    <a:p>
                      <a:pPr algn="ctr">
                        <a:lnSpc>
                          <a:spcPts val="2393"/>
                        </a:lnSpc>
                      </a:pPr>
                      <a:r>
                        <a:rPr lang="en-US" sz="1899" b="true">
                          <a:solidFill>
                            <a:srgbClr val="16123E"/>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 Description</a:t>
                      </a:r>
                    </a:p>
                    <a:p>
                      <a:pPr algn="ctr">
                        <a:lnSpc>
                          <a:spcPts val="2393"/>
                        </a:lnSpc>
                      </a:pPr>
                      <a:r>
                        <a:rPr lang="en-US" sz="1899" b="true">
                          <a:solidFill>
                            <a:srgbClr val="16123E"/>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031"/>
                        </a:lnSpc>
                        <a:defRPr/>
                      </a:pPr>
                      <a:r>
                        <a:rPr lang="en-US" sz="3199" b="true">
                          <a:solidFill>
                            <a:srgbClr val="16123E"/>
                          </a:solidFill>
                          <a:latin typeface="Garet Bold"/>
                          <a:ea typeface="Garet Bold"/>
                          <a:cs typeface="Garet Bold"/>
                          <a:sym typeface="Garet Bold"/>
                        </a:rPr>
                        <a:t>Expected Outcome</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894258">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1</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Input a valid natural language mathematical statement into ChatGPT-4o</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r>
                        <a:rPr lang="en-US" sz="2499">
                          <a:solidFill>
                            <a:srgbClr val="16123E"/>
                          </a:solidFill>
                          <a:latin typeface="Garet"/>
                          <a:ea typeface="Garet"/>
                          <a:cs typeface="Garet"/>
                          <a:sym typeface="Garet"/>
                        </a:rPr>
                        <a:t>ChatGPT generates Agda code as proof for verification</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502013">
                <a:tc>
                  <a:txBody>
                    <a:bodyPr anchor="t" rtlCol="false"/>
                    <a:lstStyle/>
                    <a:p>
                      <a:pPr algn="ctr">
                        <a:lnSpc>
                          <a:spcPts val="3275"/>
                        </a:lnSpc>
                        <a:defRPr/>
                      </a:pPr>
                      <a:endParaRPr lang="en-US" sz="1100"/>
                    </a:p>
                    <a:p>
                      <a:pPr algn="ctr">
                        <a:lnSpc>
                          <a:spcPts val="4031"/>
                        </a:lnSpc>
                      </a:pPr>
                      <a:r>
                        <a:rPr lang="en-US" sz="3199">
                          <a:solidFill>
                            <a:srgbClr val="16123E"/>
                          </a:solidFill>
                          <a:latin typeface="Garet"/>
                          <a:ea typeface="Garet"/>
                          <a:cs typeface="Garet"/>
                          <a:sym typeface="Garet"/>
                        </a:rPr>
                        <a:t>  2</a:t>
                      </a:r>
                    </a:p>
                    <a:p>
                      <a:pPr algn="ctr">
                        <a:lnSpc>
                          <a:spcPts val="3275"/>
                        </a:lnSpc>
                      </a:pPr>
                      <a:r>
                        <a:rPr lang="en-US" sz="25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Proof verification fails due to incorrect input</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The system provides feedback, and</a:t>
                      </a:r>
                    </a:p>
                    <a:p>
                      <a:pPr algn="ctr">
                        <a:lnSpc>
                          <a:spcPts val="3149"/>
                        </a:lnSpc>
                      </a:pPr>
                      <a:r>
                        <a:rPr lang="en-US" sz="2499">
                          <a:solidFill>
                            <a:srgbClr val="16123E"/>
                          </a:solidFill>
                          <a:latin typeface="Garet"/>
                          <a:ea typeface="Garet"/>
                          <a:cs typeface="Garet"/>
                          <a:sym typeface="Garet"/>
                        </a:rPr>
                        <a:t>  ChatGPT refines the proof</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894258">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3</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Input a large and complex proof statement</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3149"/>
                        </a:lnSpc>
                      </a:pPr>
                      <a:r>
                        <a:rPr lang="en-US" sz="2499">
                          <a:solidFill>
                            <a:srgbClr val="16123E"/>
                          </a:solidFill>
                          <a:latin typeface="Garet"/>
                          <a:ea typeface="Garet"/>
                          <a:cs typeface="Garet"/>
                          <a:sym typeface="Garet"/>
                        </a:rPr>
                        <a:t>  The system efficiently handles the</a:t>
                      </a:r>
                    </a:p>
                    <a:p>
                      <a:pPr algn="ctr">
                        <a:lnSpc>
                          <a:spcPts val="3149"/>
                        </a:lnSpc>
                      </a:pPr>
                      <a:r>
                        <a:rPr lang="en-US" sz="2499">
                          <a:solidFill>
                            <a:srgbClr val="16123E"/>
                          </a:solidFill>
                          <a:latin typeface="Garet"/>
                          <a:ea typeface="Garet"/>
                          <a:cs typeface="Garet"/>
                          <a:sym typeface="Garet"/>
                        </a:rPr>
                        <a:t>  input and completes verification within an acceptable time-frame</a:t>
                      </a:r>
                    </a:p>
                    <a:p>
                      <a:pPr algn="ctr">
                        <a:lnSpc>
                          <a:spcPts val="2393"/>
                        </a:lnSpc>
                      </a:pPr>
                      <a:r>
                        <a:rPr lang="en-US" sz="1899">
                          <a:solidFill>
                            <a:srgbClr val="16123E"/>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752258" y="1298575"/>
            <a:ext cx="16507042"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Testing Process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p:nvPr/>
        </p:nvGrpSpPr>
        <p:grpSpPr>
          <a:xfrm rot="0">
            <a:off x="-1124443" y="8478654"/>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DAAC7"/>
            </a:solidFill>
          </p:spPr>
        </p:sp>
      </p:grpSp>
      <p:sp>
        <p:nvSpPr>
          <p:cNvPr name="TextBox 6" id="6"/>
          <p:cNvSpPr txBox="true"/>
          <p:nvPr/>
        </p:nvSpPr>
        <p:spPr>
          <a:xfrm rot="0">
            <a:off x="752258" y="1298575"/>
            <a:ext cx="16507042"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Testing Process</a:t>
            </a:r>
          </a:p>
        </p:txBody>
      </p:sp>
      <p:graphicFrame>
        <p:nvGraphicFramePr>
          <p:cNvPr name="Table 7" id="7"/>
          <p:cNvGraphicFramePr>
            <a:graphicFrameLocks noGrp="true"/>
          </p:cNvGraphicFramePr>
          <p:nvPr/>
        </p:nvGraphicFramePr>
        <p:xfrm>
          <a:off x="1139003" y="3054401"/>
          <a:ext cx="16120297" cy="6922489"/>
        </p:xfrm>
        <a:graphic>
          <a:graphicData uri="http://schemas.openxmlformats.org/drawingml/2006/table">
            <a:tbl>
              <a:tblPr/>
              <a:tblGrid>
                <a:gridCol w="2426194"/>
                <a:gridCol w="6169181"/>
                <a:gridCol w="7524922"/>
              </a:tblGrid>
              <a:tr h="1224254">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a:t>
                      </a:r>
                    </a:p>
                    <a:p>
                      <a:pPr algn="ctr">
                        <a:lnSpc>
                          <a:spcPts val="2393"/>
                        </a:lnSpc>
                      </a:pPr>
                      <a:r>
                        <a:rPr lang="en-US" sz="1899" b="true">
                          <a:solidFill>
                            <a:srgbClr val="16123E"/>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2393"/>
                        </a:lnSpc>
                        <a:defRPr/>
                      </a:pPr>
                      <a:endParaRPr lang="en-US" sz="1100"/>
                    </a:p>
                    <a:p>
                      <a:pPr algn="ctr">
                        <a:lnSpc>
                          <a:spcPts val="4031"/>
                        </a:lnSpc>
                      </a:pPr>
                      <a:r>
                        <a:rPr lang="en-US" sz="3199" b="true">
                          <a:solidFill>
                            <a:srgbClr val="16123E"/>
                          </a:solidFill>
                          <a:latin typeface="Garet Bold"/>
                          <a:ea typeface="Garet Bold"/>
                          <a:cs typeface="Garet Bold"/>
                          <a:sym typeface="Garet Bold"/>
                        </a:rPr>
                        <a:t>  Test Case Description</a:t>
                      </a:r>
                    </a:p>
                    <a:p>
                      <a:pPr algn="ctr">
                        <a:lnSpc>
                          <a:spcPts val="2393"/>
                        </a:lnSpc>
                      </a:pPr>
                      <a:r>
                        <a:rPr lang="en-US" sz="1899" b="true">
                          <a:solidFill>
                            <a:srgbClr val="000000"/>
                          </a:solidFill>
                          <a:latin typeface="Garet Bold"/>
                          <a:ea typeface="Garet Bold"/>
                          <a:cs typeface="Garet Bold"/>
                          <a:sym typeface="Garet Bold"/>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4031"/>
                        </a:lnSpc>
                        <a:defRPr/>
                      </a:pPr>
                      <a:r>
                        <a:rPr lang="en-US" sz="3199" b="true">
                          <a:solidFill>
                            <a:srgbClr val="16123E"/>
                          </a:solidFill>
                          <a:latin typeface="Garet Bold"/>
                          <a:ea typeface="Garet Bold"/>
                          <a:cs typeface="Garet Bold"/>
                          <a:sym typeface="Garet Bold"/>
                        </a:rPr>
                        <a:t>Expected Outcome</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065928">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4</a:t>
                      </a:r>
                    </a:p>
                    <a:p>
                      <a:pPr algn="ctr">
                        <a:lnSpc>
                          <a:spcPts val="2393"/>
                        </a:lnSpc>
                      </a:pPr>
                      <a:r>
                        <a:rPr lang="en-US" sz="1899">
                          <a:solidFill>
                            <a:srgbClr val="000000"/>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endParaRPr lang="en-US" sz="1100"/>
                    </a:p>
                    <a:p>
                      <a:pPr algn="ctr">
                        <a:lnSpc>
                          <a:spcPts val="3149"/>
                        </a:lnSpc>
                      </a:pPr>
                      <a:r>
                        <a:rPr lang="en-US" sz="2499">
                          <a:solidFill>
                            <a:srgbClr val="16123E"/>
                          </a:solidFill>
                          <a:latin typeface="Garet"/>
                          <a:ea typeface="Garet"/>
                          <a:cs typeface="Garet"/>
                          <a:sym typeface="Garet"/>
                        </a:rPr>
                        <a:t>Attempt to verify an invalid or</a:t>
                      </a:r>
                    </a:p>
                    <a:p>
                      <a:pPr algn="ctr">
                        <a:lnSpc>
                          <a:spcPts val="3149"/>
                        </a:lnSpc>
                      </a:pPr>
                      <a:r>
                        <a:rPr lang="en-US" sz="2499">
                          <a:solidFill>
                            <a:srgbClr val="16123E"/>
                          </a:solidFill>
                          <a:latin typeface="Garet"/>
                          <a:ea typeface="Garet"/>
                          <a:cs typeface="Garet"/>
                          <a:sym typeface="Garet"/>
                        </a:rPr>
                        <a:t> incomplete proof</a:t>
                      </a:r>
                    </a:p>
                    <a:p>
                      <a:pPr algn="ctr">
                        <a:lnSpc>
                          <a:spcPts val="2393"/>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099"/>
                        </a:lnSpc>
                        <a:defRPr/>
                      </a:pPr>
                      <a:endParaRPr lang="en-US" sz="1100"/>
                    </a:p>
                    <a:p>
                      <a:pPr algn="ctr">
                        <a:lnSpc>
                          <a:spcPts val="3099"/>
                        </a:lnSpc>
                      </a:pPr>
                      <a:r>
                        <a:rPr lang="en-US" sz="2499">
                          <a:solidFill>
                            <a:srgbClr val="16123E"/>
                          </a:solidFill>
                          <a:latin typeface="Garet"/>
                          <a:ea typeface="Garet"/>
                          <a:cs typeface="Garet"/>
                          <a:sym typeface="Garet"/>
                        </a:rPr>
                        <a:t>The system detects the errors,</a:t>
                      </a:r>
                    </a:p>
                    <a:p>
                      <a:pPr algn="ctr">
                        <a:lnSpc>
                          <a:spcPts val="3099"/>
                        </a:lnSpc>
                      </a:pPr>
                      <a:r>
                        <a:rPr lang="en-US" sz="2499">
                          <a:solidFill>
                            <a:srgbClr val="16123E"/>
                          </a:solidFill>
                          <a:latin typeface="Garet"/>
                          <a:ea typeface="Garet"/>
                          <a:cs typeface="Garet"/>
                          <a:sym typeface="Garet"/>
                        </a:rPr>
                        <a:t> provides feedback, and does not falsely confirm validity</a:t>
                      </a:r>
                    </a:p>
                    <a:p>
                      <a:pPr algn="ctr">
                        <a:lnSpc>
                          <a:spcPts val="2727"/>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2010281">
                <a:tc>
                  <a:txBody>
                    <a:bodyPr anchor="t" rtlCol="false"/>
                    <a:lstStyle/>
                    <a:p>
                      <a:pPr algn="ctr">
                        <a:lnSpc>
                          <a:spcPts val="3275"/>
                        </a:lnSpc>
                        <a:defRPr/>
                      </a:pPr>
                      <a:endParaRPr lang="en-US" sz="1100"/>
                    </a:p>
                    <a:p>
                      <a:pPr algn="ctr">
                        <a:lnSpc>
                          <a:spcPts val="4031"/>
                        </a:lnSpc>
                      </a:pPr>
                      <a:r>
                        <a:rPr lang="en-US" sz="3199">
                          <a:solidFill>
                            <a:srgbClr val="16123E"/>
                          </a:solidFill>
                          <a:latin typeface="Garet"/>
                          <a:ea typeface="Garet"/>
                          <a:cs typeface="Garet"/>
                          <a:sym typeface="Garet"/>
                        </a:rPr>
                        <a:t>  5</a:t>
                      </a:r>
                    </a:p>
                    <a:p>
                      <a:pPr algn="ctr">
                        <a:lnSpc>
                          <a:spcPts val="3275"/>
                        </a:lnSpc>
                      </a:pPr>
                      <a:r>
                        <a:rPr lang="en-US" sz="2599">
                          <a:solidFill>
                            <a:srgbClr val="000000"/>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r>
                        <a:rPr lang="en-US" sz="2499">
                          <a:solidFill>
                            <a:srgbClr val="16123E"/>
                          </a:solidFill>
                          <a:latin typeface="Garet"/>
                          <a:ea typeface="Garet"/>
                          <a:cs typeface="Garet"/>
                          <a:sym typeface="Garet"/>
                        </a:rPr>
                        <a:t>User interrupts the iterative</a:t>
                      </a:r>
                      <a:endParaRPr lang="en-US" sz="1100"/>
                    </a:p>
                    <a:p>
                      <a:pPr algn="ctr">
                        <a:lnSpc>
                          <a:spcPts val="3149"/>
                        </a:lnSpc>
                      </a:pPr>
                      <a:r>
                        <a:rPr lang="en-US" sz="2499">
                          <a:solidFill>
                            <a:srgbClr val="16123E"/>
                          </a:solidFill>
                          <a:latin typeface="Garet"/>
                          <a:ea typeface="Garet"/>
                          <a:cs typeface="Garet"/>
                          <a:sym typeface="Garet"/>
                        </a:rPr>
                        <a:t> refinement process</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endParaRPr lang="en-US" sz="1100"/>
                    </a:p>
                    <a:p>
                      <a:pPr algn="ctr">
                        <a:lnSpc>
                          <a:spcPts val="3149"/>
                        </a:lnSpc>
                      </a:pPr>
                      <a:r>
                        <a:rPr lang="en-US" sz="2499">
                          <a:solidFill>
                            <a:srgbClr val="16123E"/>
                          </a:solidFill>
                          <a:latin typeface="Garet"/>
                          <a:ea typeface="Garet"/>
                          <a:cs typeface="Garet"/>
                          <a:sym typeface="Garet"/>
                        </a:rPr>
                        <a:t>The system safely halts the</a:t>
                      </a:r>
                    </a:p>
                    <a:p>
                      <a:pPr algn="ctr">
                        <a:lnSpc>
                          <a:spcPts val="3149"/>
                        </a:lnSpc>
                      </a:pPr>
                      <a:r>
                        <a:rPr lang="en-US" sz="2499">
                          <a:solidFill>
                            <a:srgbClr val="16123E"/>
                          </a:solidFill>
                          <a:latin typeface="Garet"/>
                          <a:ea typeface="Garet"/>
                          <a:cs typeface="Garet"/>
                          <a:sym typeface="Garet"/>
                        </a:rPr>
                        <a:t> refinement process, saving the current state of the proof</a:t>
                      </a:r>
                    </a:p>
                    <a:p>
                      <a:pPr algn="ctr">
                        <a:lnSpc>
                          <a:spcPts val="2393"/>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1622027">
                <a:tc>
                  <a:txBody>
                    <a:bodyPr anchor="t" rtlCol="false"/>
                    <a:lstStyle/>
                    <a:p>
                      <a:pPr algn="ctr">
                        <a:lnSpc>
                          <a:spcPts val="2393"/>
                        </a:lnSpc>
                        <a:defRPr/>
                      </a:pPr>
                      <a:endParaRPr lang="en-US" sz="1100"/>
                    </a:p>
                    <a:p>
                      <a:pPr algn="ctr">
                        <a:lnSpc>
                          <a:spcPts val="4031"/>
                        </a:lnSpc>
                      </a:pPr>
                      <a:r>
                        <a:rPr lang="en-US" sz="3199">
                          <a:solidFill>
                            <a:srgbClr val="16123E"/>
                          </a:solidFill>
                          <a:latin typeface="Garet"/>
                          <a:ea typeface="Garet"/>
                          <a:cs typeface="Garet"/>
                          <a:sym typeface="Garet"/>
                        </a:rPr>
                        <a:t>  6</a:t>
                      </a:r>
                    </a:p>
                    <a:p>
                      <a:pPr algn="ctr">
                        <a:lnSpc>
                          <a:spcPts val="2393"/>
                        </a:lnSpc>
                      </a:pPr>
                      <a:r>
                        <a:rPr lang="en-US" sz="1899">
                          <a:solidFill>
                            <a:srgbClr val="000000"/>
                          </a:solidFill>
                          <a:latin typeface="Garet"/>
                          <a:ea typeface="Garet"/>
                          <a:cs typeface="Garet"/>
                          <a:sym typeface="Garet"/>
                        </a:rPr>
                        <a:t>  </a:t>
                      </a: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r>
                        <a:rPr lang="en-US" sz="2499">
                          <a:solidFill>
                            <a:srgbClr val="16123E"/>
                          </a:solidFill>
                          <a:latin typeface="Garet"/>
                          <a:ea typeface="Garet"/>
                          <a:cs typeface="Garet"/>
                          <a:sym typeface="Garet"/>
                        </a:rPr>
                        <a:t>The maximum iteration limit is reached </a:t>
                      </a:r>
                      <a:endParaRPr lang="en-US" sz="1100"/>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3149"/>
                        </a:lnSpc>
                        <a:defRPr/>
                      </a:pPr>
                      <a:endParaRPr lang="en-US" sz="1100"/>
                    </a:p>
                    <a:p>
                      <a:pPr algn="ctr">
                        <a:lnSpc>
                          <a:spcPts val="3149"/>
                        </a:lnSpc>
                      </a:pPr>
                      <a:r>
                        <a:rPr lang="en-US" sz="2499">
                          <a:solidFill>
                            <a:srgbClr val="16123E"/>
                          </a:solidFill>
                          <a:latin typeface="Garet"/>
                          <a:ea typeface="Garet"/>
                          <a:cs typeface="Garet"/>
                          <a:sym typeface="Garet"/>
                        </a:rPr>
                        <a:t>The system </a:t>
                      </a:r>
                      <a:r>
                        <a:rPr lang="en-US" sz="2499">
                          <a:solidFill>
                            <a:srgbClr val="16123E"/>
                          </a:solidFill>
                          <a:latin typeface="Garet"/>
                          <a:ea typeface="Garet"/>
                          <a:cs typeface="Garet"/>
                          <a:sym typeface="Garet"/>
                        </a:rPr>
                        <a:t>safely halts the refinement process, saving the current state of the proof</a:t>
                      </a:r>
                    </a:p>
                    <a:p>
                      <a:pPr algn="ctr">
                        <a:lnSpc>
                          <a:spcPts val="2393"/>
                        </a:lnSpc>
                      </a:pPr>
                    </a:p>
                  </a:txBody>
                  <a:tcPr marL="0" marR="0" marT="0" marB="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grpSp>
        <p:nvGrpSpPr>
          <p:cNvPr name="Group 4" id="4"/>
          <p:cNvGrpSpPr/>
          <p:nvPr/>
        </p:nvGrpSpPr>
        <p:grpSpPr>
          <a:xfrm rot="0">
            <a:off x="-1124443" y="8537796"/>
            <a:ext cx="2996472" cy="299647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ADAAC7"/>
            </a:solidFill>
          </p:spPr>
        </p:sp>
      </p:grpSp>
      <p:sp>
        <p:nvSpPr>
          <p:cNvPr name="Freeform 6" id="6"/>
          <p:cNvSpPr/>
          <p:nvPr/>
        </p:nvSpPr>
        <p:spPr>
          <a:xfrm flipH="false" flipV="false" rot="0">
            <a:off x="14636829" y="4313267"/>
            <a:ext cx="3210446" cy="3210446"/>
          </a:xfrm>
          <a:custGeom>
            <a:avLst/>
            <a:gdLst/>
            <a:ahLst/>
            <a:cxnLst/>
            <a:rect r="r" b="b" t="t" l="l"/>
            <a:pathLst>
              <a:path h="3210446" w="3210446">
                <a:moveTo>
                  <a:pt x="0" y="0"/>
                </a:moveTo>
                <a:lnTo>
                  <a:pt x="3210446" y="0"/>
                </a:lnTo>
                <a:lnTo>
                  <a:pt x="3210446" y="3210446"/>
                </a:lnTo>
                <a:lnTo>
                  <a:pt x="0" y="32104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42206" y="3956429"/>
            <a:ext cx="11700611" cy="4180424"/>
          </a:xfrm>
          <a:prstGeom prst="rect">
            <a:avLst/>
          </a:prstGeom>
        </p:spPr>
        <p:txBody>
          <a:bodyPr anchor="t" rtlCol="false" tIns="0" lIns="0" bIns="0" rIns="0">
            <a:spAutoFit/>
          </a:bodyPr>
          <a:lstStyle/>
          <a:p>
            <a:pPr algn="l">
              <a:lnSpc>
                <a:spcPts val="5615"/>
              </a:lnSpc>
            </a:pPr>
            <a:r>
              <a:rPr lang="en-US" sz="3488">
                <a:solidFill>
                  <a:srgbClr val="16123E"/>
                </a:solidFill>
                <a:latin typeface="Garet"/>
                <a:ea typeface="Garet"/>
                <a:cs typeface="Garet"/>
                <a:sym typeface="Garet"/>
              </a:rPr>
              <a:t>Integrated ChatGPT-4o with Agda.</a:t>
            </a:r>
          </a:p>
          <a:p>
            <a:pPr algn="l">
              <a:lnSpc>
                <a:spcPts val="5615"/>
              </a:lnSpc>
            </a:pPr>
            <a:r>
              <a:rPr lang="en-US" sz="3488">
                <a:solidFill>
                  <a:srgbClr val="16123E"/>
                </a:solidFill>
                <a:latin typeface="Garet"/>
                <a:ea typeface="Garet"/>
                <a:cs typeface="Garet"/>
                <a:sym typeface="Garet"/>
              </a:rPr>
              <a:t>Enabled Agda to act as a verficator for ChatGPT</a:t>
            </a:r>
          </a:p>
          <a:p>
            <a:pPr algn="l">
              <a:lnSpc>
                <a:spcPts val="5615"/>
              </a:lnSpc>
            </a:pPr>
            <a:r>
              <a:rPr lang="en-US" sz="3488">
                <a:solidFill>
                  <a:srgbClr val="16123E"/>
                </a:solidFill>
                <a:latin typeface="Garet"/>
                <a:ea typeface="Garet"/>
                <a:cs typeface="Garet"/>
                <a:sym typeface="Garet"/>
              </a:rPr>
              <a:t>Successfully reached convergence on various mathematical statements.</a:t>
            </a:r>
          </a:p>
          <a:p>
            <a:pPr algn="l">
              <a:lnSpc>
                <a:spcPts val="5615"/>
              </a:lnSpc>
            </a:pPr>
            <a:r>
              <a:rPr lang="en-US" sz="3488">
                <a:solidFill>
                  <a:srgbClr val="16123E"/>
                </a:solidFill>
                <a:latin typeface="Garet"/>
                <a:ea typeface="Garet"/>
                <a:cs typeface="Garet"/>
                <a:sym typeface="Garet"/>
              </a:rPr>
              <a:t>Some proofs failed to converge within the iteration limit.</a:t>
            </a:r>
          </a:p>
        </p:txBody>
      </p:sp>
      <p:sp>
        <p:nvSpPr>
          <p:cNvPr name="Freeform 8" id="8"/>
          <p:cNvSpPr/>
          <p:nvPr/>
        </p:nvSpPr>
        <p:spPr>
          <a:xfrm flipH="false" flipV="false" rot="0">
            <a:off x="1391996" y="4135227"/>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942206" y="1298563"/>
            <a:ext cx="14081391" cy="869975"/>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Results</a:t>
            </a:r>
          </a:p>
        </p:txBody>
      </p:sp>
      <p:sp>
        <p:nvSpPr>
          <p:cNvPr name="Freeform 10" id="10"/>
          <p:cNvSpPr/>
          <p:nvPr/>
        </p:nvSpPr>
        <p:spPr>
          <a:xfrm flipH="false" flipV="false" rot="0">
            <a:off x="1391996" y="4848819"/>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391996" y="5562411"/>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391996" y="6998468"/>
            <a:ext cx="356079" cy="356079"/>
          </a:xfrm>
          <a:custGeom>
            <a:avLst/>
            <a:gdLst/>
            <a:ahLst/>
            <a:cxnLst/>
            <a:rect r="r" b="b" t="t" l="l"/>
            <a:pathLst>
              <a:path h="356079" w="356079">
                <a:moveTo>
                  <a:pt x="0" y="0"/>
                </a:moveTo>
                <a:lnTo>
                  <a:pt x="356079" y="0"/>
                </a:lnTo>
                <a:lnTo>
                  <a:pt x="356079" y="356079"/>
                </a:lnTo>
                <a:lnTo>
                  <a:pt x="0" y="35607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grpSp>
        <p:nvGrpSpPr>
          <p:cNvPr name="Group 4" id="4"/>
          <p:cNvGrpSpPr/>
          <p:nvPr/>
        </p:nvGrpSpPr>
        <p:grpSpPr>
          <a:xfrm rot="0">
            <a:off x="-838624" y="8814760"/>
            <a:ext cx="2579622" cy="2579622"/>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sp>
        <p:nvSpPr>
          <p:cNvPr name="TextBox 6" id="6"/>
          <p:cNvSpPr txBox="true"/>
          <p:nvPr/>
        </p:nvSpPr>
        <p:spPr>
          <a:xfrm rot="0">
            <a:off x="2239195" y="3352578"/>
            <a:ext cx="12777625" cy="5589992"/>
          </a:xfrm>
          <a:prstGeom prst="rect">
            <a:avLst/>
          </a:prstGeom>
        </p:spPr>
        <p:txBody>
          <a:bodyPr anchor="t" rtlCol="false" tIns="0" lIns="0" bIns="0" rIns="0">
            <a:spAutoFit/>
          </a:bodyPr>
          <a:lstStyle/>
          <a:p>
            <a:pPr algn="l">
              <a:lnSpc>
                <a:spcPts val="5615"/>
              </a:lnSpc>
            </a:pPr>
            <a:r>
              <a:rPr lang="en-US" sz="3488">
                <a:solidFill>
                  <a:srgbClr val="16123E"/>
                </a:solidFill>
                <a:latin typeface="Garet"/>
                <a:ea typeface="Garet"/>
                <a:cs typeface="Garet"/>
                <a:sym typeface="Garet"/>
              </a:rPr>
              <a:t>Agda ensures formal correctness but needs extra validation for logic.</a:t>
            </a:r>
          </a:p>
          <a:p>
            <a:pPr algn="l">
              <a:lnSpc>
                <a:spcPts val="5615"/>
              </a:lnSpc>
            </a:pPr>
            <a:r>
              <a:rPr lang="en-US" sz="3488">
                <a:solidFill>
                  <a:srgbClr val="16123E"/>
                </a:solidFill>
                <a:latin typeface="Garet"/>
                <a:ea typeface="Garet"/>
                <a:cs typeface="Garet"/>
                <a:sym typeface="Garet"/>
              </a:rPr>
              <a:t>Refinement success depends on effective prompt engineering.</a:t>
            </a:r>
          </a:p>
          <a:p>
            <a:pPr algn="l">
              <a:lnSpc>
                <a:spcPts val="5615"/>
              </a:lnSpc>
            </a:pPr>
            <a:r>
              <a:rPr lang="en-US" sz="3488">
                <a:solidFill>
                  <a:srgbClr val="16123E"/>
                </a:solidFill>
                <a:latin typeface="Garet"/>
                <a:ea typeface="Garet"/>
                <a:cs typeface="Garet"/>
                <a:sym typeface="Garet"/>
              </a:rPr>
              <a:t>Redundant proof detection helps but doesn’t eliminate failures.</a:t>
            </a:r>
          </a:p>
          <a:p>
            <a:pPr algn="l">
              <a:lnSpc>
                <a:spcPts val="5615"/>
              </a:lnSpc>
            </a:pPr>
            <a:r>
              <a:rPr lang="en-US" sz="3488">
                <a:solidFill>
                  <a:srgbClr val="16123E"/>
                </a:solidFill>
                <a:latin typeface="Garet"/>
                <a:ea typeface="Garet"/>
                <a:cs typeface="Garet"/>
                <a:sym typeface="Garet"/>
              </a:rPr>
              <a:t>Exploring alternative proof assistants and stronger LLMs is key.</a:t>
            </a:r>
          </a:p>
        </p:txBody>
      </p:sp>
      <p:sp>
        <p:nvSpPr>
          <p:cNvPr name="Freeform 7" id="7"/>
          <p:cNvSpPr/>
          <p:nvPr/>
        </p:nvSpPr>
        <p:spPr>
          <a:xfrm flipH="false" flipV="false" rot="0">
            <a:off x="15148972" y="6586678"/>
            <a:ext cx="3139028" cy="3240287"/>
          </a:xfrm>
          <a:custGeom>
            <a:avLst/>
            <a:gdLst/>
            <a:ahLst/>
            <a:cxnLst/>
            <a:rect r="r" b="b" t="t" l="l"/>
            <a:pathLst>
              <a:path h="3240287" w="3139028">
                <a:moveTo>
                  <a:pt x="0" y="0"/>
                </a:moveTo>
                <a:lnTo>
                  <a:pt x="3139028" y="0"/>
                </a:lnTo>
                <a:lnTo>
                  <a:pt x="3139028" y="3240287"/>
                </a:lnTo>
                <a:lnTo>
                  <a:pt x="0" y="32402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103304" y="1298563"/>
            <a:ext cx="14081391" cy="869975"/>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Insights</a:t>
            </a:r>
          </a:p>
        </p:txBody>
      </p:sp>
      <p:sp>
        <p:nvSpPr>
          <p:cNvPr name="Freeform 9" id="9"/>
          <p:cNvSpPr/>
          <p:nvPr/>
        </p:nvSpPr>
        <p:spPr>
          <a:xfrm flipH="false" flipV="false" rot="0">
            <a:off x="1505613" y="3485928"/>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505613" y="4925769"/>
            <a:ext cx="470770" cy="435463"/>
          </a:xfrm>
          <a:custGeom>
            <a:avLst/>
            <a:gdLst/>
            <a:ahLst/>
            <a:cxnLst/>
            <a:rect r="r" b="b" t="t" l="l"/>
            <a:pathLst>
              <a:path h="435463" w="470770">
                <a:moveTo>
                  <a:pt x="0" y="0"/>
                </a:moveTo>
                <a:lnTo>
                  <a:pt x="470770" y="0"/>
                </a:lnTo>
                <a:lnTo>
                  <a:pt x="470770" y="435462"/>
                </a:lnTo>
                <a:lnTo>
                  <a:pt x="0" y="43546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505613" y="6361356"/>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505613" y="7796944"/>
            <a:ext cx="470770" cy="435463"/>
          </a:xfrm>
          <a:custGeom>
            <a:avLst/>
            <a:gdLst/>
            <a:ahLst/>
            <a:cxnLst/>
            <a:rect r="r" b="b" t="t" l="l"/>
            <a:pathLst>
              <a:path h="435463" w="470770">
                <a:moveTo>
                  <a:pt x="0" y="0"/>
                </a:moveTo>
                <a:lnTo>
                  <a:pt x="470770" y="0"/>
                </a:lnTo>
                <a:lnTo>
                  <a:pt x="470770" y="435463"/>
                </a:lnTo>
                <a:lnTo>
                  <a:pt x="0" y="4354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271618" y="3935828"/>
            <a:ext cx="4321317" cy="3871550"/>
            <a:chOff x="0" y="0"/>
            <a:chExt cx="1138125" cy="1019667"/>
          </a:xfrm>
        </p:grpSpPr>
        <p:sp>
          <p:nvSpPr>
            <p:cNvPr name="Freeform 3" id="3"/>
            <p:cNvSpPr/>
            <p:nvPr/>
          </p:nvSpPr>
          <p:spPr>
            <a:xfrm flipH="false" flipV="false" rot="0">
              <a:off x="0" y="0"/>
              <a:ext cx="1138125" cy="1019667"/>
            </a:xfrm>
            <a:custGeom>
              <a:avLst/>
              <a:gdLst/>
              <a:ahLst/>
              <a:cxnLst/>
              <a:rect r="r" b="b" t="t" l="l"/>
              <a:pathLst>
                <a:path h="1019667" w="1138125">
                  <a:moveTo>
                    <a:pt x="91370" y="0"/>
                  </a:moveTo>
                  <a:lnTo>
                    <a:pt x="1046755" y="0"/>
                  </a:lnTo>
                  <a:cubicBezTo>
                    <a:pt x="1070988" y="0"/>
                    <a:pt x="1094228" y="9626"/>
                    <a:pt x="1111363" y="26762"/>
                  </a:cubicBezTo>
                  <a:cubicBezTo>
                    <a:pt x="1128498" y="43897"/>
                    <a:pt x="1138125" y="67137"/>
                    <a:pt x="1138125" y="91370"/>
                  </a:cubicBezTo>
                  <a:lnTo>
                    <a:pt x="1138125" y="928298"/>
                  </a:lnTo>
                  <a:cubicBezTo>
                    <a:pt x="1138125" y="952530"/>
                    <a:pt x="1128498" y="975771"/>
                    <a:pt x="1111363" y="992906"/>
                  </a:cubicBezTo>
                  <a:cubicBezTo>
                    <a:pt x="1094228" y="1010041"/>
                    <a:pt x="1070988" y="1019667"/>
                    <a:pt x="1046755" y="1019667"/>
                  </a:cubicBezTo>
                  <a:lnTo>
                    <a:pt x="91370" y="1019667"/>
                  </a:lnTo>
                  <a:cubicBezTo>
                    <a:pt x="67137" y="1019667"/>
                    <a:pt x="43897" y="1010041"/>
                    <a:pt x="26762" y="992906"/>
                  </a:cubicBezTo>
                  <a:cubicBezTo>
                    <a:pt x="9626" y="975771"/>
                    <a:pt x="0" y="952530"/>
                    <a:pt x="0" y="928298"/>
                  </a:cubicBezTo>
                  <a:lnTo>
                    <a:pt x="0" y="91370"/>
                  </a:lnTo>
                  <a:cubicBezTo>
                    <a:pt x="0" y="67137"/>
                    <a:pt x="9626" y="43897"/>
                    <a:pt x="26762" y="26762"/>
                  </a:cubicBezTo>
                  <a:cubicBezTo>
                    <a:pt x="43897" y="9626"/>
                    <a:pt x="67137" y="0"/>
                    <a:pt x="91370" y="0"/>
                  </a:cubicBezTo>
                  <a:close/>
                </a:path>
              </a:pathLst>
            </a:custGeom>
            <a:solidFill>
              <a:srgbClr val="000000">
                <a:alpha val="0"/>
              </a:srgbClr>
            </a:solidFill>
            <a:ln w="38100" cap="rnd">
              <a:solidFill>
                <a:srgbClr val="2B2664"/>
              </a:solidFill>
              <a:prstDash val="solid"/>
              <a:round/>
            </a:ln>
          </p:spPr>
        </p:sp>
        <p:sp>
          <p:nvSpPr>
            <p:cNvPr name="TextBox 4" id="4"/>
            <p:cNvSpPr txBox="true"/>
            <p:nvPr/>
          </p:nvSpPr>
          <p:spPr>
            <a:xfrm>
              <a:off x="0" y="-38100"/>
              <a:ext cx="1138125" cy="105776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832922" y="3379833"/>
            <a:ext cx="1111991" cy="1111991"/>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664"/>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124443" y="708493"/>
            <a:ext cx="20536886" cy="1935813"/>
            <a:chOff x="0" y="0"/>
            <a:chExt cx="29788293" cy="2807854"/>
          </a:xfrm>
        </p:grpSpPr>
        <p:sp>
          <p:nvSpPr>
            <p:cNvPr name="Freeform 9" id="9"/>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A2664"/>
            </a:solidFill>
          </p:spPr>
        </p:sp>
      </p:grpSp>
      <p:sp>
        <p:nvSpPr>
          <p:cNvPr name="TextBox 10" id="10"/>
          <p:cNvSpPr txBox="true"/>
          <p:nvPr/>
        </p:nvSpPr>
        <p:spPr>
          <a:xfrm rot="0">
            <a:off x="6660401" y="1298542"/>
            <a:ext cx="4967199" cy="870016"/>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Conclusion</a:t>
            </a:r>
          </a:p>
        </p:txBody>
      </p:sp>
      <p:sp>
        <p:nvSpPr>
          <p:cNvPr name="TextBox 11" id="11"/>
          <p:cNvSpPr txBox="true"/>
          <p:nvPr/>
        </p:nvSpPr>
        <p:spPr>
          <a:xfrm rot="0">
            <a:off x="3006096" y="3702117"/>
            <a:ext cx="765643" cy="545958"/>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01</a:t>
            </a:r>
          </a:p>
        </p:txBody>
      </p:sp>
      <p:grpSp>
        <p:nvGrpSpPr>
          <p:cNvPr name="Group 12" id="12"/>
          <p:cNvGrpSpPr/>
          <p:nvPr/>
        </p:nvGrpSpPr>
        <p:grpSpPr>
          <a:xfrm rot="0">
            <a:off x="12502354" y="3935828"/>
            <a:ext cx="4321317" cy="3871550"/>
            <a:chOff x="0" y="0"/>
            <a:chExt cx="1138125" cy="1019667"/>
          </a:xfrm>
        </p:grpSpPr>
        <p:sp>
          <p:nvSpPr>
            <p:cNvPr name="Freeform 13" id="13"/>
            <p:cNvSpPr/>
            <p:nvPr/>
          </p:nvSpPr>
          <p:spPr>
            <a:xfrm flipH="false" flipV="false" rot="0">
              <a:off x="0" y="0"/>
              <a:ext cx="1138125" cy="1019667"/>
            </a:xfrm>
            <a:custGeom>
              <a:avLst/>
              <a:gdLst/>
              <a:ahLst/>
              <a:cxnLst/>
              <a:rect r="r" b="b" t="t" l="l"/>
              <a:pathLst>
                <a:path h="1019667" w="1138125">
                  <a:moveTo>
                    <a:pt x="91370" y="0"/>
                  </a:moveTo>
                  <a:lnTo>
                    <a:pt x="1046755" y="0"/>
                  </a:lnTo>
                  <a:cubicBezTo>
                    <a:pt x="1070988" y="0"/>
                    <a:pt x="1094228" y="9626"/>
                    <a:pt x="1111363" y="26762"/>
                  </a:cubicBezTo>
                  <a:cubicBezTo>
                    <a:pt x="1128498" y="43897"/>
                    <a:pt x="1138125" y="67137"/>
                    <a:pt x="1138125" y="91370"/>
                  </a:cubicBezTo>
                  <a:lnTo>
                    <a:pt x="1138125" y="928298"/>
                  </a:lnTo>
                  <a:cubicBezTo>
                    <a:pt x="1138125" y="952530"/>
                    <a:pt x="1128498" y="975771"/>
                    <a:pt x="1111363" y="992906"/>
                  </a:cubicBezTo>
                  <a:cubicBezTo>
                    <a:pt x="1094228" y="1010041"/>
                    <a:pt x="1070988" y="1019667"/>
                    <a:pt x="1046755" y="1019667"/>
                  </a:cubicBezTo>
                  <a:lnTo>
                    <a:pt x="91370" y="1019667"/>
                  </a:lnTo>
                  <a:cubicBezTo>
                    <a:pt x="67137" y="1019667"/>
                    <a:pt x="43897" y="1010041"/>
                    <a:pt x="26762" y="992906"/>
                  </a:cubicBezTo>
                  <a:cubicBezTo>
                    <a:pt x="9626" y="975771"/>
                    <a:pt x="0" y="952530"/>
                    <a:pt x="0" y="928298"/>
                  </a:cubicBezTo>
                  <a:lnTo>
                    <a:pt x="0" y="91370"/>
                  </a:lnTo>
                  <a:cubicBezTo>
                    <a:pt x="0" y="67137"/>
                    <a:pt x="9626" y="43897"/>
                    <a:pt x="26762" y="26762"/>
                  </a:cubicBezTo>
                  <a:cubicBezTo>
                    <a:pt x="43897" y="9626"/>
                    <a:pt x="67137" y="0"/>
                    <a:pt x="91370" y="0"/>
                  </a:cubicBezTo>
                  <a:close/>
                </a:path>
              </a:pathLst>
            </a:custGeom>
            <a:solidFill>
              <a:srgbClr val="000000">
                <a:alpha val="0"/>
              </a:srgbClr>
            </a:solidFill>
            <a:ln w="38100" cap="rnd">
              <a:solidFill>
                <a:srgbClr val="2B2664"/>
              </a:solidFill>
              <a:prstDash val="solid"/>
              <a:round/>
            </a:ln>
          </p:spPr>
        </p:sp>
        <p:sp>
          <p:nvSpPr>
            <p:cNvPr name="TextBox 14" id="14"/>
            <p:cNvSpPr txBox="true"/>
            <p:nvPr/>
          </p:nvSpPr>
          <p:spPr>
            <a:xfrm>
              <a:off x="0" y="-38100"/>
              <a:ext cx="1138125" cy="1057767"/>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4003105" y="3379833"/>
            <a:ext cx="1111991" cy="111199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664"/>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6983388" y="3965571"/>
            <a:ext cx="4321317" cy="3871550"/>
            <a:chOff x="0" y="0"/>
            <a:chExt cx="1138125" cy="1019667"/>
          </a:xfrm>
        </p:grpSpPr>
        <p:sp>
          <p:nvSpPr>
            <p:cNvPr name="Freeform 19" id="19"/>
            <p:cNvSpPr/>
            <p:nvPr/>
          </p:nvSpPr>
          <p:spPr>
            <a:xfrm flipH="false" flipV="false" rot="0">
              <a:off x="0" y="0"/>
              <a:ext cx="1138125" cy="1019667"/>
            </a:xfrm>
            <a:custGeom>
              <a:avLst/>
              <a:gdLst/>
              <a:ahLst/>
              <a:cxnLst/>
              <a:rect r="r" b="b" t="t" l="l"/>
              <a:pathLst>
                <a:path h="1019667" w="1138125">
                  <a:moveTo>
                    <a:pt x="91370" y="0"/>
                  </a:moveTo>
                  <a:lnTo>
                    <a:pt x="1046755" y="0"/>
                  </a:lnTo>
                  <a:cubicBezTo>
                    <a:pt x="1070988" y="0"/>
                    <a:pt x="1094228" y="9626"/>
                    <a:pt x="1111363" y="26762"/>
                  </a:cubicBezTo>
                  <a:cubicBezTo>
                    <a:pt x="1128498" y="43897"/>
                    <a:pt x="1138125" y="67137"/>
                    <a:pt x="1138125" y="91370"/>
                  </a:cubicBezTo>
                  <a:lnTo>
                    <a:pt x="1138125" y="928298"/>
                  </a:lnTo>
                  <a:cubicBezTo>
                    <a:pt x="1138125" y="952530"/>
                    <a:pt x="1128498" y="975771"/>
                    <a:pt x="1111363" y="992906"/>
                  </a:cubicBezTo>
                  <a:cubicBezTo>
                    <a:pt x="1094228" y="1010041"/>
                    <a:pt x="1070988" y="1019667"/>
                    <a:pt x="1046755" y="1019667"/>
                  </a:cubicBezTo>
                  <a:lnTo>
                    <a:pt x="91370" y="1019667"/>
                  </a:lnTo>
                  <a:cubicBezTo>
                    <a:pt x="67137" y="1019667"/>
                    <a:pt x="43897" y="1010041"/>
                    <a:pt x="26762" y="992906"/>
                  </a:cubicBezTo>
                  <a:cubicBezTo>
                    <a:pt x="9626" y="975771"/>
                    <a:pt x="0" y="952530"/>
                    <a:pt x="0" y="928298"/>
                  </a:cubicBezTo>
                  <a:lnTo>
                    <a:pt x="0" y="91370"/>
                  </a:lnTo>
                  <a:cubicBezTo>
                    <a:pt x="0" y="67137"/>
                    <a:pt x="9626" y="43897"/>
                    <a:pt x="26762" y="26762"/>
                  </a:cubicBezTo>
                  <a:cubicBezTo>
                    <a:pt x="43897" y="9626"/>
                    <a:pt x="67137" y="0"/>
                    <a:pt x="91370" y="0"/>
                  </a:cubicBezTo>
                  <a:close/>
                </a:path>
              </a:pathLst>
            </a:custGeom>
            <a:solidFill>
              <a:srgbClr val="000000">
                <a:alpha val="0"/>
              </a:srgbClr>
            </a:solidFill>
            <a:ln w="38100" cap="rnd">
              <a:solidFill>
                <a:srgbClr val="2B2664"/>
              </a:solidFill>
              <a:prstDash val="solid"/>
              <a:round/>
            </a:ln>
          </p:spPr>
        </p:sp>
        <p:sp>
          <p:nvSpPr>
            <p:cNvPr name="TextBox 20" id="20"/>
            <p:cNvSpPr txBox="true"/>
            <p:nvPr/>
          </p:nvSpPr>
          <p:spPr>
            <a:xfrm>
              <a:off x="0" y="-38100"/>
              <a:ext cx="1138125" cy="1057767"/>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8588051" y="3418076"/>
            <a:ext cx="1111991" cy="111199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A2664"/>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700465" y="5044059"/>
            <a:ext cx="3730116" cy="1866635"/>
          </a:xfrm>
          <a:prstGeom prst="rect">
            <a:avLst/>
          </a:prstGeom>
        </p:spPr>
        <p:txBody>
          <a:bodyPr anchor="t" rtlCol="false" tIns="0" lIns="0" bIns="0" rIns="0">
            <a:spAutoFit/>
          </a:bodyPr>
          <a:lstStyle/>
          <a:p>
            <a:pPr algn="l">
              <a:lnSpc>
                <a:spcPts val="3719"/>
              </a:lnSpc>
              <a:spcBef>
                <a:spcPct val="0"/>
              </a:spcBef>
            </a:pPr>
            <a:r>
              <a:rPr lang="en-US" sz="3099">
                <a:solidFill>
                  <a:srgbClr val="2A2664"/>
                </a:solidFill>
                <a:latin typeface="Garet"/>
                <a:ea typeface="Garet"/>
                <a:cs typeface="Garet"/>
                <a:sym typeface="Garet"/>
              </a:rPr>
              <a:t>This research lays groundwork for future AI-driven proof validation.</a:t>
            </a:r>
          </a:p>
        </p:txBody>
      </p:sp>
      <p:sp>
        <p:nvSpPr>
          <p:cNvPr name="TextBox 25" id="25"/>
          <p:cNvSpPr txBox="true"/>
          <p:nvPr/>
        </p:nvSpPr>
        <p:spPr>
          <a:xfrm rot="0">
            <a:off x="14176279" y="3737116"/>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03</a:t>
            </a:r>
          </a:p>
        </p:txBody>
      </p:sp>
      <p:sp>
        <p:nvSpPr>
          <p:cNvPr name="TextBox 26" id="26"/>
          <p:cNvSpPr txBox="true"/>
          <p:nvPr/>
        </p:nvSpPr>
        <p:spPr>
          <a:xfrm rot="0">
            <a:off x="8761225" y="3775360"/>
            <a:ext cx="765643" cy="545931"/>
          </a:xfrm>
          <a:prstGeom prst="rect">
            <a:avLst/>
          </a:prstGeom>
        </p:spPr>
        <p:txBody>
          <a:bodyPr anchor="t" rtlCol="false" tIns="0" lIns="0" bIns="0" rIns="0">
            <a:spAutoFit/>
          </a:bodyPr>
          <a:lstStyle/>
          <a:p>
            <a:pPr algn="ctr">
              <a:lnSpc>
                <a:spcPts val="4289"/>
              </a:lnSpc>
            </a:pPr>
            <a:r>
              <a:rPr lang="en-US" sz="3729">
                <a:solidFill>
                  <a:srgbClr val="E8E6E2"/>
                </a:solidFill>
                <a:latin typeface="Ansam"/>
                <a:ea typeface="Ansam"/>
                <a:cs typeface="Ansam"/>
                <a:sym typeface="Ansam"/>
              </a:rPr>
              <a:t>02</a:t>
            </a:r>
          </a:p>
        </p:txBody>
      </p:sp>
      <p:sp>
        <p:nvSpPr>
          <p:cNvPr name="TextBox 27" id="27"/>
          <p:cNvSpPr txBox="true"/>
          <p:nvPr/>
        </p:nvSpPr>
        <p:spPr>
          <a:xfrm rot="0">
            <a:off x="7278989" y="5044059"/>
            <a:ext cx="3730116" cy="1866635"/>
          </a:xfrm>
          <a:prstGeom prst="rect">
            <a:avLst/>
          </a:prstGeom>
        </p:spPr>
        <p:txBody>
          <a:bodyPr anchor="t" rtlCol="false" tIns="0" lIns="0" bIns="0" rIns="0">
            <a:spAutoFit/>
          </a:bodyPr>
          <a:lstStyle/>
          <a:p>
            <a:pPr algn="l">
              <a:lnSpc>
                <a:spcPts val="3719"/>
              </a:lnSpc>
              <a:spcBef>
                <a:spcPct val="0"/>
              </a:spcBef>
            </a:pPr>
            <a:r>
              <a:rPr lang="en-US" sz="3099">
                <a:solidFill>
                  <a:srgbClr val="2A2664"/>
                </a:solidFill>
                <a:latin typeface="Garet"/>
                <a:ea typeface="Garet"/>
                <a:cs typeface="Garet"/>
                <a:sym typeface="Garet"/>
              </a:rPr>
              <a:t>ChatGPT and Agda improve AI-driven proof verification.</a:t>
            </a:r>
          </a:p>
        </p:txBody>
      </p:sp>
      <p:sp>
        <p:nvSpPr>
          <p:cNvPr name="TextBox 28" id="28"/>
          <p:cNvSpPr txBox="true"/>
          <p:nvPr/>
        </p:nvSpPr>
        <p:spPr>
          <a:xfrm rot="0">
            <a:off x="13011408" y="4810730"/>
            <a:ext cx="3604084" cy="2333294"/>
          </a:xfrm>
          <a:prstGeom prst="rect">
            <a:avLst/>
          </a:prstGeom>
        </p:spPr>
        <p:txBody>
          <a:bodyPr anchor="t" rtlCol="false" tIns="0" lIns="0" bIns="0" rIns="0">
            <a:spAutoFit/>
          </a:bodyPr>
          <a:lstStyle/>
          <a:p>
            <a:pPr algn="l">
              <a:lnSpc>
                <a:spcPts val="3719"/>
              </a:lnSpc>
              <a:spcBef>
                <a:spcPct val="0"/>
              </a:spcBef>
            </a:pPr>
            <a:r>
              <a:rPr lang="en-US" sz="3099">
                <a:solidFill>
                  <a:srgbClr val="2A2664"/>
                </a:solidFill>
                <a:latin typeface="Garet"/>
                <a:ea typeface="Garet"/>
                <a:cs typeface="Garet"/>
                <a:sym typeface="Garet"/>
              </a:rPr>
              <a:t>AI theorem proving shows promise but needs refinement.</a:t>
            </a:r>
          </a:p>
        </p:txBody>
      </p:sp>
      <p:sp>
        <p:nvSpPr>
          <p:cNvPr name="Freeform 29" id="29"/>
          <p:cNvSpPr/>
          <p:nvPr/>
        </p:nvSpPr>
        <p:spPr>
          <a:xfrm flipH="false" flipV="false" rot="0">
            <a:off x="16078340" y="8077340"/>
            <a:ext cx="2209660" cy="2209660"/>
          </a:xfrm>
          <a:custGeom>
            <a:avLst/>
            <a:gdLst/>
            <a:ahLst/>
            <a:cxnLst/>
            <a:rect r="r" b="b" t="t" l="l"/>
            <a:pathLst>
              <a:path h="2209660" w="2209660">
                <a:moveTo>
                  <a:pt x="0" y="0"/>
                </a:moveTo>
                <a:lnTo>
                  <a:pt x="2209660" y="0"/>
                </a:lnTo>
                <a:lnTo>
                  <a:pt x="2209660" y="2209660"/>
                </a:lnTo>
                <a:lnTo>
                  <a:pt x="0" y="220966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0" id="30"/>
          <p:cNvGrpSpPr>
            <a:grpSpLocks noChangeAspect="true"/>
          </p:cNvGrpSpPr>
          <p:nvPr/>
        </p:nvGrpSpPr>
        <p:grpSpPr>
          <a:xfrm rot="0">
            <a:off x="-1608726" y="8345937"/>
            <a:ext cx="3550932" cy="3550932"/>
            <a:chOff x="0" y="0"/>
            <a:chExt cx="6355080" cy="6355080"/>
          </a:xfrm>
        </p:grpSpPr>
        <p:sp>
          <p:nvSpPr>
            <p:cNvPr name="Freeform 31" id="31"/>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504C84"/>
            </a:solidFill>
          </p:spPr>
        </p:sp>
      </p:grpSp>
      <p:grpSp>
        <p:nvGrpSpPr>
          <p:cNvPr name="Group 32" id="32"/>
          <p:cNvGrpSpPr/>
          <p:nvPr/>
        </p:nvGrpSpPr>
        <p:grpSpPr>
          <a:xfrm rot="0">
            <a:off x="-595876" y="9358787"/>
            <a:ext cx="1525232" cy="1525232"/>
            <a:chOff x="0" y="0"/>
            <a:chExt cx="6350000" cy="6350000"/>
          </a:xfrm>
        </p:grpSpPr>
        <p:sp>
          <p:nvSpPr>
            <p:cNvPr name="Freeform 33" id="3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6123E"/>
            </a:solid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1124443" y="708493"/>
            <a:ext cx="20536886" cy="1935813"/>
            <a:chOff x="0" y="0"/>
            <a:chExt cx="29788293" cy="2807854"/>
          </a:xfrm>
        </p:grpSpPr>
        <p:sp>
          <p:nvSpPr>
            <p:cNvPr name="Freeform 3" id="3"/>
            <p:cNvSpPr/>
            <p:nvPr/>
          </p:nvSpPr>
          <p:spPr>
            <a:xfrm flipH="false" flipV="false" rot="0">
              <a:off x="0" y="0"/>
              <a:ext cx="29788293" cy="2807853"/>
            </a:xfrm>
            <a:custGeom>
              <a:avLst/>
              <a:gdLst/>
              <a:ahLst/>
              <a:cxnLst/>
              <a:rect r="r" b="b" t="t" l="l"/>
              <a:pathLst>
                <a:path h="2807853" w="29788293">
                  <a:moveTo>
                    <a:pt x="29788293" y="1403927"/>
                  </a:moveTo>
                  <a:cubicBezTo>
                    <a:pt x="29788293" y="2379356"/>
                    <a:pt x="29359923" y="2807853"/>
                    <a:pt x="28831347" y="2807853"/>
                  </a:cubicBezTo>
                  <a:lnTo>
                    <a:pt x="956945" y="2807853"/>
                  </a:lnTo>
                  <a:cubicBezTo>
                    <a:pt x="428371" y="2807853"/>
                    <a:pt x="0" y="2379356"/>
                    <a:pt x="0" y="1403927"/>
                  </a:cubicBezTo>
                  <a:cubicBezTo>
                    <a:pt x="0" y="428371"/>
                    <a:pt x="428371" y="0"/>
                    <a:pt x="956945" y="0"/>
                  </a:cubicBezTo>
                  <a:lnTo>
                    <a:pt x="28831347" y="0"/>
                  </a:lnTo>
                  <a:cubicBezTo>
                    <a:pt x="29359796" y="0"/>
                    <a:pt x="29788293" y="428371"/>
                    <a:pt x="29788293" y="1403927"/>
                  </a:cubicBezTo>
                  <a:close/>
                </a:path>
              </a:pathLst>
            </a:custGeom>
            <a:solidFill>
              <a:srgbClr val="2B2664"/>
            </a:solidFill>
          </p:spPr>
        </p:sp>
      </p:grpSp>
      <p:grpSp>
        <p:nvGrpSpPr>
          <p:cNvPr name="Group 4" id="4"/>
          <p:cNvGrpSpPr>
            <a:grpSpLocks noChangeAspect="true"/>
          </p:cNvGrpSpPr>
          <p:nvPr/>
        </p:nvGrpSpPr>
        <p:grpSpPr>
          <a:xfrm rot="0">
            <a:off x="16512534" y="8511534"/>
            <a:ext cx="3550932" cy="3550932"/>
            <a:chOff x="0" y="0"/>
            <a:chExt cx="6355080" cy="6355080"/>
          </a:xfrm>
        </p:grpSpPr>
        <p:sp>
          <p:nvSpPr>
            <p:cNvPr name="Freeform 5" id="5"/>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B2664"/>
            </a:solidFill>
          </p:spPr>
        </p:sp>
      </p:grpSp>
      <p:grpSp>
        <p:nvGrpSpPr>
          <p:cNvPr name="Group 6" id="6"/>
          <p:cNvGrpSpPr/>
          <p:nvPr/>
        </p:nvGrpSpPr>
        <p:grpSpPr>
          <a:xfrm rot="0">
            <a:off x="17525384" y="9524384"/>
            <a:ext cx="1525232" cy="1525232"/>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grpSp>
        <p:nvGrpSpPr>
          <p:cNvPr name="Group 8" id="8"/>
          <p:cNvGrpSpPr>
            <a:grpSpLocks noChangeAspect="true"/>
          </p:cNvGrpSpPr>
          <p:nvPr/>
        </p:nvGrpSpPr>
        <p:grpSpPr>
          <a:xfrm rot="0">
            <a:off x="-1775466" y="8511534"/>
            <a:ext cx="3550932" cy="3550932"/>
            <a:chOff x="0" y="0"/>
            <a:chExt cx="6355080" cy="6355080"/>
          </a:xfrm>
        </p:grpSpPr>
        <p:sp>
          <p:nvSpPr>
            <p:cNvPr name="Freeform 9" id="9"/>
            <p:cNvSpPr/>
            <p:nvPr/>
          </p:nvSpPr>
          <p:spPr>
            <a:xfrm flipH="false" flipV="false" rot="0">
              <a:off x="0" y="0"/>
              <a:ext cx="6355080" cy="6355080"/>
            </a:xfrm>
            <a:custGeom>
              <a:avLst/>
              <a:gdLst/>
              <a:ahLst/>
              <a:cxnLst/>
              <a:rect r="r" b="b" t="t" l="l"/>
              <a:pathLst>
                <a:path h="6355080" w="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2B2664"/>
            </a:solidFill>
          </p:spPr>
        </p:sp>
      </p:grpSp>
      <p:grpSp>
        <p:nvGrpSpPr>
          <p:cNvPr name="Group 10" id="10"/>
          <p:cNvGrpSpPr/>
          <p:nvPr/>
        </p:nvGrpSpPr>
        <p:grpSpPr>
          <a:xfrm rot="0">
            <a:off x="-762616" y="9524384"/>
            <a:ext cx="1525232" cy="1525232"/>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B9B5E1"/>
            </a:solidFill>
          </p:spPr>
        </p:sp>
      </p:grpSp>
      <p:pic>
        <p:nvPicPr>
          <p:cNvPr name="Picture 12" id="1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16455" t="1284" r="16544" b="790"/>
          <a:stretch>
            <a:fillRect/>
          </a:stretch>
        </p:blipFill>
        <p:spPr>
          <a:xfrm flipH="false" flipV="false" rot="0">
            <a:off x="4702071" y="3019751"/>
            <a:ext cx="8561661" cy="7038929"/>
          </a:xfrm>
          <a:prstGeom prst="rect">
            <a:avLst/>
          </a:prstGeom>
        </p:spPr>
      </p:pic>
      <p:sp>
        <p:nvSpPr>
          <p:cNvPr name="TextBox 13" id="13"/>
          <p:cNvSpPr txBox="true"/>
          <p:nvPr/>
        </p:nvSpPr>
        <p:spPr>
          <a:xfrm rot="0">
            <a:off x="1942206" y="1298575"/>
            <a:ext cx="14081391" cy="869950"/>
          </a:xfrm>
          <a:prstGeom prst="rect">
            <a:avLst/>
          </a:prstGeom>
        </p:spPr>
        <p:txBody>
          <a:bodyPr anchor="t" rtlCol="false" tIns="0" lIns="0" bIns="0" rIns="0">
            <a:spAutoFit/>
          </a:bodyPr>
          <a:lstStyle/>
          <a:p>
            <a:pPr algn="ctr">
              <a:lnSpc>
                <a:spcPts val="6500"/>
              </a:lnSpc>
            </a:pPr>
            <a:r>
              <a:rPr lang="en-US" sz="6500">
                <a:solidFill>
                  <a:srgbClr val="FBFDF4"/>
                </a:solidFill>
                <a:latin typeface="League Spartan"/>
                <a:ea typeface="League Spartan"/>
                <a:cs typeface="League Spartan"/>
                <a:sym typeface="League Spartan"/>
              </a:rPr>
              <a:t>Example</a:t>
            </a:r>
          </a:p>
        </p:txBody>
      </p:sp>
    </p:spTree>
  </p:cSld>
  <p:clrMapOvr>
    <a:masterClrMapping/>
  </p:clrMapOvr>
  <p:timing>
    <p:tnLst>
      <p:par>
        <p:cTn dur="indefinite" restart="never" nodeType="tmRoot">
          <p:childTnLst>
            <p:video>
              <p:cMediaNode vol="100000">
                <p:cTn fill="hold" display="false">
                  <p:stCondLst>
                    <p:cond delay="indefinite"/>
                  </p:stCondLst>
                </p:cTn>
                <p:tgtEl>
                  <p:spTgt spid="12"/>
                </p:tgtEl>
              </p:cMediaNode>
            </p:video>
          </p:childTnLst>
        </p:cTn>
      </p:par>
    </p:tnLst>
  </p:timing>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BFDF4"/>
        </a:solidFill>
      </p:bgPr>
    </p:bg>
    <p:spTree>
      <p:nvGrpSpPr>
        <p:cNvPr id="1" name=""/>
        <p:cNvGrpSpPr/>
        <p:nvPr/>
      </p:nvGrpSpPr>
      <p:grpSpPr>
        <a:xfrm>
          <a:off x="0" y="0"/>
          <a:ext cx="0" cy="0"/>
          <a:chOff x="0" y="0"/>
          <a:chExt cx="0" cy="0"/>
        </a:xfrm>
      </p:grpSpPr>
      <p:grpSp>
        <p:nvGrpSpPr>
          <p:cNvPr name="Group 2" id="2"/>
          <p:cNvGrpSpPr/>
          <p:nvPr/>
        </p:nvGrpSpPr>
        <p:grpSpPr>
          <a:xfrm rot="0">
            <a:off x="-31071" y="0"/>
            <a:ext cx="4239083" cy="10287000"/>
            <a:chOff x="0" y="0"/>
            <a:chExt cx="5652111" cy="13716000"/>
          </a:xfrm>
        </p:grpSpPr>
        <p:grpSp>
          <p:nvGrpSpPr>
            <p:cNvPr name="Group 3" id="3"/>
            <p:cNvGrpSpPr/>
            <p:nvPr/>
          </p:nvGrpSpPr>
          <p:grpSpPr>
            <a:xfrm rot="0">
              <a:off x="2826056" y="0"/>
              <a:ext cx="2826056" cy="13716000"/>
              <a:chOff x="0" y="0"/>
              <a:chExt cx="558233" cy="2709333"/>
            </a:xfrm>
          </p:grpSpPr>
          <p:sp>
            <p:nvSpPr>
              <p:cNvPr name="Freeform 4" id="4"/>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B2664"/>
              </a:solidFill>
            </p:spPr>
          </p:sp>
          <p:sp>
            <p:nvSpPr>
              <p:cNvPr name="TextBox 5" id="5"/>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413028" y="0"/>
              <a:ext cx="2826056" cy="13716000"/>
              <a:chOff x="0" y="0"/>
              <a:chExt cx="558233" cy="2709333"/>
            </a:xfrm>
          </p:grpSpPr>
          <p:sp>
            <p:nvSpPr>
              <p:cNvPr name="Freeform 7" id="7"/>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504C84"/>
              </a:solidFill>
            </p:spPr>
          </p:sp>
          <p:sp>
            <p:nvSpPr>
              <p:cNvPr name="TextBox 8" id="8"/>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2826056" cy="13716000"/>
              <a:chOff x="0" y="0"/>
              <a:chExt cx="558233" cy="2709333"/>
            </a:xfrm>
          </p:grpSpPr>
          <p:sp>
            <p:nvSpPr>
              <p:cNvPr name="Freeform 10" id="10"/>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B9B5E1"/>
              </a:solidFill>
            </p:spPr>
          </p:sp>
          <p:sp>
            <p:nvSpPr>
              <p:cNvPr name="TextBox 11" id="11"/>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2" id="12"/>
          <p:cNvSpPr/>
          <p:nvPr/>
        </p:nvSpPr>
        <p:spPr>
          <a:xfrm flipH="false" flipV="false" rot="0">
            <a:off x="4585390" y="311429"/>
            <a:ext cx="2961140" cy="2857500"/>
          </a:xfrm>
          <a:custGeom>
            <a:avLst/>
            <a:gdLst/>
            <a:ahLst/>
            <a:cxnLst/>
            <a:rect r="r" b="b" t="t" l="l"/>
            <a:pathLst>
              <a:path h="2857500" w="2961140">
                <a:moveTo>
                  <a:pt x="0" y="0"/>
                </a:moveTo>
                <a:lnTo>
                  <a:pt x="2961140" y="0"/>
                </a:lnTo>
                <a:lnTo>
                  <a:pt x="2961140" y="2857500"/>
                </a:lnTo>
                <a:lnTo>
                  <a:pt x="0" y="2857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5030450" y="6951447"/>
            <a:ext cx="2857500" cy="2857500"/>
          </a:xfrm>
          <a:custGeom>
            <a:avLst/>
            <a:gdLst/>
            <a:ahLst/>
            <a:cxnLst/>
            <a:rect r="r" b="b" t="t" l="l"/>
            <a:pathLst>
              <a:path h="2857500" w="2857500">
                <a:moveTo>
                  <a:pt x="0" y="0"/>
                </a:moveTo>
                <a:lnTo>
                  <a:pt x="2857500" y="0"/>
                </a:lnTo>
                <a:lnTo>
                  <a:pt x="2857500" y="2857500"/>
                </a:lnTo>
                <a:lnTo>
                  <a:pt x="0" y="28575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4" id="14"/>
          <p:cNvSpPr txBox="true"/>
          <p:nvPr/>
        </p:nvSpPr>
        <p:spPr>
          <a:xfrm rot="0">
            <a:off x="5327117" y="4046860"/>
            <a:ext cx="11932183" cy="2364730"/>
          </a:xfrm>
          <a:prstGeom prst="rect">
            <a:avLst/>
          </a:prstGeom>
        </p:spPr>
        <p:txBody>
          <a:bodyPr anchor="t" rtlCol="false" tIns="0" lIns="0" bIns="0" rIns="0">
            <a:spAutoFit/>
          </a:bodyPr>
          <a:lstStyle/>
          <a:p>
            <a:pPr algn="ctr">
              <a:lnSpc>
                <a:spcPts val="9099"/>
              </a:lnSpc>
            </a:pPr>
            <a:r>
              <a:rPr lang="en-US" sz="9099">
                <a:solidFill>
                  <a:srgbClr val="2B2664"/>
                </a:solidFill>
                <a:latin typeface="League Spartan"/>
                <a:ea typeface="League Spartan"/>
                <a:cs typeface="League Spartan"/>
                <a:sym typeface="League Spartan"/>
              </a:rPr>
              <a:t>Thank You 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DAGQ7tg1_hA</dc:identifier>
  <dcterms:modified xsi:type="dcterms:W3CDTF">2011-08-01T06:04:30Z</dcterms:modified>
  <cp:revision>1</cp:revision>
  <dc:title>Interactive_Mathematical_Proof_Verification_System_Presentation</dc:title>
</cp:coreProperties>
</file>